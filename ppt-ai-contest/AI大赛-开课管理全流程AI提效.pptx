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16" Type="http://schemas.openxmlformats.org/officeDocument/2006/relationships/tableStyles" Target="tableStyles.xml" /><Relationship Id="rId13" Type="http://schemas.openxmlformats.org/officeDocument/2006/relationships/slide" Target="slides/slide13.xml" /><Relationship Id="rId9" Type="http://schemas.openxmlformats.org/officeDocument/2006/relationships/slide" Target="slides/slide9.xml" /><Relationship Id="rId15" Type="http://schemas.openxmlformats.org/officeDocument/2006/relationships/presProps" Target="presProps.xml" /><Relationship Id="rId8" Type="http://schemas.openxmlformats.org/officeDocument/2006/relationships/slide" Target="slides/slide8.xml" /><Relationship Id="rId12" Type="http://schemas.openxmlformats.org/officeDocument/2006/relationships/slide" Target="slides/slide12.xml" /><Relationship Id="rId7" Type="http://schemas.openxmlformats.org/officeDocument/2006/relationships/slide" Target="slides/slide7.xml" /><Relationship Id="rId11" Type="http://schemas.openxmlformats.org/officeDocument/2006/relationships/slide" Target="slides/slide11.xml" /><Relationship Id="rId6" Type="http://schemas.openxmlformats.org/officeDocument/2006/relationships/slide" Target="slides/slide6.xml" /><Relationship Id="rId14" Type="http://schemas.openxmlformats.org/officeDocument/2006/relationships/notesMaster" Target="notesMasters/notesMaster1.xml" /><Relationship Id="rId3" Type="http://schemas.openxmlformats.org/officeDocument/2006/relationships/slide" Target="slides/slide3.xml" /><Relationship Id="rId10" Type="http://schemas.openxmlformats.org/officeDocument/2006/relationships/slide" Target="slides/slide10.xml" /><Relationship Id="rId17" Type="http://schemas.openxmlformats.org/officeDocument/2006/relationships/viewProps" Target="viewProps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3" Type="http://schemas.openxmlformats.org/officeDocument/2006/relationships/image" Target="media/image3.svg" /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7" Type="http://schemas.openxmlformats.org/officeDocument/2006/relationships/image" Target="media/image39.svg" /><Relationship Id="rId6" Type="http://schemas.openxmlformats.org/officeDocument/2006/relationships/image" Target="media/image38.svg" /><Relationship Id="rId5" Type="http://schemas.openxmlformats.org/officeDocument/2006/relationships/image" Target="media/image37.svg" /><Relationship Id="rId8" Type="http://schemas.openxmlformats.org/officeDocument/2006/relationships/image" Target="media/image40.svg" /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36.svg" /><Relationship Id="rId3" Type="http://schemas.openxmlformats.org/officeDocument/2006/relationships/image" Target="media/image35.svg" /><Relationship Id="rId2" Type="http://schemas.openxmlformats.org/officeDocument/2006/relationships/image" Target="media/image34.svg" /><Relationship Id="rId1" Type="http://schemas.openxmlformats.org/officeDocument/2006/relationships/image" Target="media/image33.svg" /></Relationships>
</file>

<file path=ppt/slides/_rels/slide3.xml.rels><?xml version="1.0" encoding="UTF-8" standalone="yes"?><Relationships xmlns="http://schemas.openxmlformats.org/package/2006/relationships"><Relationship Id="rId6" Type="http://schemas.openxmlformats.org/officeDocument/2006/relationships/image" Target="media/image45.svg" /><Relationship Id="rId5" Type="http://schemas.openxmlformats.org/officeDocument/2006/relationships/image" Target="media/image44.svg" /><Relationship Id="rId4" Type="http://schemas.openxmlformats.org/officeDocument/2006/relationships/image" Target="media/image43.svg" /><Relationship Id="rId3" Type="http://schemas.openxmlformats.org/officeDocument/2006/relationships/image" Target="media/image38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42.svg" /><Relationship Id="rId1" Type="http://schemas.openxmlformats.org/officeDocument/2006/relationships/image" Target="media/image41.svg" 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media/image12.svg" /><Relationship Id="rId2" Type="http://schemas.openxmlformats.org/officeDocument/2006/relationships/image" Target="media/image47.svg" /><Relationship Id="rId5" Type="http://schemas.openxmlformats.org/officeDocument/2006/relationships/image" Target="media/image48.svg" /><Relationship Id="rId4" Type="http://schemas.openxmlformats.org/officeDocument/2006/relationships/image" Target="media/image13.svg" /><Relationship Id="rId1" Type="http://schemas.openxmlformats.org/officeDocument/2006/relationships/image" Target="media/image46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media/image7.svg" /><Relationship Id="rId2" Type="http://schemas.openxmlformats.org/officeDocument/2006/relationships/image" Target="media/image49.svg" /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image" Target="media/image51.svg" /><Relationship Id="rId2" Type="http://schemas.openxmlformats.org/officeDocument/2006/relationships/image" Target="media/image48.svg" /><Relationship Id="rId1" Type="http://schemas.openxmlformats.org/officeDocument/2006/relationships/image" Target="media/image50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9" Type="http://schemas.openxmlformats.org/officeDocument/2006/relationships/image" Target="media/image58.svg" /><Relationship Id="rId7" Type="http://schemas.openxmlformats.org/officeDocument/2006/relationships/image" Target="media/image56.svg" /><Relationship Id="rId6" Type="http://schemas.openxmlformats.org/officeDocument/2006/relationships/image" Target="media/image7.svg" /><Relationship Id="rId5" Type="http://schemas.openxmlformats.org/officeDocument/2006/relationships/image" Target="media/image55.svg" /><Relationship Id="rId4" Type="http://schemas.openxmlformats.org/officeDocument/2006/relationships/image" Target="media/image54.svg" /><Relationship Id="rId8" Type="http://schemas.openxmlformats.org/officeDocument/2006/relationships/image" Target="media/image57.svg" /><Relationship Id="rId1" Type="http://schemas.openxmlformats.org/officeDocument/2006/relationships/image" Target="media/image49.svg" /><Relationship Id="rId3" Type="http://schemas.openxmlformats.org/officeDocument/2006/relationships/image" Target="media/image53.svg" /><Relationship Id="rId2" Type="http://schemas.openxmlformats.org/officeDocument/2006/relationships/image" Target="media/image52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4" Type="http://schemas.openxmlformats.org/officeDocument/2006/relationships/image" Target="media/image61.svg" /><Relationship Id="rId3" Type="http://schemas.openxmlformats.org/officeDocument/2006/relationships/image" Target="media/image60.svg" /><Relationship Id="rId1" Type="http://schemas.openxmlformats.org/officeDocument/2006/relationships/image" Target="media/image59.svg" /><Relationship Id="rId2" Type="http://schemas.openxmlformats.org/officeDocument/2006/relationships/image" Target="media/image43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4" Type="http://schemas.openxmlformats.org/officeDocument/2006/relationships/image" Target="media/image65.svg" /><Relationship Id="rId3" Type="http://schemas.openxmlformats.org/officeDocument/2006/relationships/image" Target="media/image64.svg" /><Relationship Id="rId2" Type="http://schemas.openxmlformats.org/officeDocument/2006/relationships/image" Target="media/image63.svg" /><Relationship Id="rId1" Type="http://schemas.openxmlformats.org/officeDocument/2006/relationships/image" Target="media/image62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8" Type="http://schemas.openxmlformats.org/officeDocument/2006/relationships/image" Target="media/image11.svg" /><Relationship Id="rId6" Type="http://schemas.openxmlformats.org/officeDocument/2006/relationships/image" Target="media/image9.svg" /><Relationship Id="rId2" Type="http://schemas.openxmlformats.org/officeDocument/2006/relationships/image" Target="media/image5.svg" /><Relationship Id="rId14" Type="http://schemas.openxmlformats.org/officeDocument/2006/relationships/image" Target="media/image17.svg" /><Relationship Id="rId13" Type="http://schemas.openxmlformats.org/officeDocument/2006/relationships/image" Target="media/image16.svg" /><Relationship Id="rId9" Type="http://schemas.openxmlformats.org/officeDocument/2006/relationships/image" Target="media/image12.svg" /><Relationship Id="rId5" Type="http://schemas.openxmlformats.org/officeDocument/2006/relationships/image" Target="media/image8.svg" /><Relationship Id="rId15" Type="http://schemas.openxmlformats.org/officeDocument/2006/relationships/image" Target="media/image18.svg" /><Relationship Id="rId11" Type="http://schemas.openxmlformats.org/officeDocument/2006/relationships/image" Target="media/image14.svg" /><Relationship Id="rId12" Type="http://schemas.openxmlformats.org/officeDocument/2006/relationships/image" Target="media/image15.svg" /><Relationship Id="rId10" Type="http://schemas.openxmlformats.org/officeDocument/2006/relationships/image" Target="media/image13.svg" /><Relationship Id="rId7" Type="http://schemas.openxmlformats.org/officeDocument/2006/relationships/image" Target="media/image10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6.svg" /><Relationship Id="rId1" Type="http://schemas.openxmlformats.org/officeDocument/2006/relationships/image" Target="media/image4.svg" /><Relationship Id="rId4" Type="http://schemas.openxmlformats.org/officeDocument/2006/relationships/image" Target="media/image7.svg" /></Relationships>
</file>

<file path=ppt/slides/_rels/slide11.xml.rels><?xml version="1.0" encoding="UTF-8" standalone="yes"?><Relationships xmlns="http://schemas.openxmlformats.org/package/2006/relationships"><Relationship Id="rId6" Type="http://schemas.openxmlformats.org/officeDocument/2006/relationships/image" Target="media/image24.svg" /><Relationship Id="rId8" Type="http://schemas.openxmlformats.org/officeDocument/2006/relationships/image" Target="media/image13.svg" /><Relationship Id="rId7" Type="http://schemas.openxmlformats.org/officeDocument/2006/relationships/image" Target="media/image25.svg" /><Relationship Id="rId5" Type="http://schemas.openxmlformats.org/officeDocument/2006/relationships/image" Target="media/image23.svg" /><Relationship Id="rId2" Type="http://schemas.openxmlformats.org/officeDocument/2006/relationships/image" Target="media/image20.svg" /><Relationship Id="rId4" Type="http://schemas.openxmlformats.org/officeDocument/2006/relationships/image" Target="media/image22.svg" /><Relationship Id="rId3" Type="http://schemas.openxmlformats.org/officeDocument/2006/relationships/image" Target="media/image21.svg" /><Relationship Id="rId1" Type="http://schemas.openxmlformats.org/officeDocument/2006/relationships/image" Target="media/image19.sv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5" Type="http://schemas.openxmlformats.org/officeDocument/2006/relationships/image" Target="media/image29.svg" /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28.svg" /><Relationship Id="rId3" Type="http://schemas.openxmlformats.org/officeDocument/2006/relationships/image" Target="media/image27.svg" /><Relationship Id="rId2" Type="http://schemas.openxmlformats.org/officeDocument/2006/relationships/image" Target="media/image26.svg" /><Relationship Id="rId1" Type="http://schemas.openxmlformats.org/officeDocument/2006/relationships/image" Target="media/image5.svg" /></Relationships>
</file>

<file path=ppt/slides/_rels/slide13.xml.rels><?xml version="1.0" encoding="UTF-8" standalone="yes"?><Relationships xmlns="http://schemas.openxmlformats.org/package/2006/relationships"><Relationship Id="rId2" Type="http://schemas.openxmlformats.org/officeDocument/2006/relationships/image" Target="media/image31.svg" /><Relationship Id="rId1" Type="http://schemas.openxmlformats.org/officeDocument/2006/relationships/image" Target="media/image30.svg" /><Relationship Id="rId3" Type="http://schemas.openxmlformats.org/officeDocument/2006/relationships/image" Target="media/image32.svg" /><Relationship Id="rId0" Type="http://schemas.openxmlformats.org/officeDocument/2006/relationships/slideLayout" Target="../slideLayouts/slideLayout1.xml" /></Relationships>
</file>

<file path=ppt/slides/slide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" name="" descr="&lt;Slide style={{ width: 1280, height: 720, background: '#0A0E27', padding: 0, position: 'relative', overflow: 'hidden' }}&gt;&#10;  {/* 背景装饰 — 右上角大光晕 */}&#10;  &lt;Box style={{ position: 'absolute', top: -80, right: -120, width: 500, height: 500, borderRadius: 250, background: 'radial-gradient(circle, rgba(59,130,246,0.15) 0%, transparent 70%)' }} /&gt;&#10;  {/* 背景装饰 — 左下几何 */}&#10;  &lt;Box style={{ position: 'absolute', bottom: 60, left: 40, width: 300, height: 300, background: 'linear-gradient(135deg, rgba(139,92,246,0.08) 0%, transparent 60%)' }} /&gt;&#10;  {/* 网格线装饰 */}&#10;  &lt;svg style={{ position: 'absolute', top: 0, left: 0, width: 1280, height: 720, opacity: 0.04 }}&gt;&#10;    &lt;svg viewBox='0 0 1280 720'&gt;&#10;      {Array.from({ length: 12 }, (_, i) =&gt; &lt;line key={`h${i}`} x1={0} y1={i * 60} x2={1280} y2={i * 60} stroke='#3B82F6' strokeWidth={0.5} /&gt;)}&#10;      {Array.from({ length: 21 }, (_, i) =&gt; &lt;line key={`v${i}`} x1={i * 60} y1={0} x2={i * 60} y2={720} stroke='#3B82F6' strokeWidth={0.5} /&gt;)}&#10;    &lt;/svg&gt;&#10;  &lt;/svg&gt;&#10;&#10;  {/* 主内容区 — 垂直居中 */}&#10;  &lt;Box style={{ position: 'relative', zIndex: 2, flex: 1, justifyContent: 'center', alignItems: 'flex-start', paddingLeft: 90, paddingTop: 140 }}&gt;&#10;    {/* 顶部标签 */}&#10;    &lt;Box style={{ flexDirection: 'row', alignItems: 'center', gap: 12, marginBottom: 30 }}&gt;&#10;      &lt;Box style={{ width: 40, height: 3, background: 'linear-gradient(90deg, #3B82F6, #8B5CF6)', borderRadius: 2 }} /&gt;&#10;      &lt;Text style={{ fontSize: 16, color: '#3B82F6', letterSpacing: 4, fontWeight: 'bold' }}&gt;AI AGENT · 全流程开发&lt;/Text&gt;&#10;    &lt;/Box&gt;&#10;&#10;    {/* 主标题 */}&#10;    &lt;Text style={{&#10;      fontSize: 64, fontWeight: 'bold', color: '#F1F5F9',&#10;      lineHeight: 1.2, marginBottom: 10,&#10;      textShadow: '0 0 40px rgba(59,130,246,0.3)',&#10;    }}&gt;&#10;      AI赋能开课管理系统&#10;    &lt;/Text&gt;&#10;    &lt;Text style={{&#10;      fontSize: 64, fontWeight: 'bold',&#10;      backgroundImage: 'linear-gradient(135deg, #06B6D4, #3B82F6)',&#10;      backgroundClip: 'text',&#10;      color: 'transparent',&#10;      lineHeight: 1.2, marginBottom: 30,&#10;    }}&gt;&#10;      全流程提效实战&#10;    &lt;/Text&gt;&#10;&#10;    {/* 副标题 */}&#10;    &lt;Text style={{ fontSize: 20, color: '#94A3B8', lineHeight: 1.6, marginBottom: 40 }}&gt;&#10;      产品 · 开发 · 测试 — AI Agent 7×24 自主作业，代码生成占比超 85%&#10;    &lt;/Text&gt;&#10;&#10;    {/* 底部信息 */}&#10;    &lt;Box style={{ flexDirection: 'row', gap: 40, marginTop: 50 }}&gt;&#10;      &lt;Box style={{ flexDirection: 'row', alignItems: 'center', gap: 8 }}&gt;&#10;        &lt;FAIcon name='users' style={{ fill: '#3B82F6', width: 18, height: 18 }} /&gt;&#10;        &lt;Text style={{ fontSize: 14, color: '#64748B' }}&gt;AI 参赛团队&lt;/Text&gt;&#10;      &lt;/Box&gt;&#10;      &lt;Box style={{ flexDirection: 'row', alignItems: 'center', gap: 8 }}&gt;&#10;        &lt;FAIcon name='calendar' style={{ fill: '#3B82F6', width: 18, height: 18 }} /&gt;&#10;        &lt;Text style={{ fontSize: 14, color: '#64748B' }}&gt;2026年8月&lt;/Text&gt;&#10;      &lt;/Box&gt;&#10;    &lt;/Box&gt;&#10;  &lt;/Box&gt;&#10;&#10;  {/* 底部渐变条 */}&#10;  &lt;Box style={{ position: 'absolute', bottom: 0, left: 0, width: '100%', height: 4, background: 'linear-gradient(90deg, #3B82F6, #8B5CF6, #06B6D4)' }} /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8572500" y="-762000"/>
            <a:ext cx="4762500" cy="4762500"/>
          </a:xfrm>
          <a:custGeom>
            <a:pathLst>
              <a:path w="500" h="500">
                <a:moveTo>
                  <a:pt x="380" y="464"/>
                </a:moveTo>
                <a:lnTo>
                  <a:pt x="380" y="464"/>
                </a:lnTo>
                <a:lnTo>
                  <a:pt x="374" y="467"/>
                </a:lnTo>
                <a:lnTo>
                  <a:pt x="369" y="470"/>
                </a:lnTo>
                <a:lnTo>
                  <a:pt x="364" y="473"/>
                </a:lnTo>
                <a:lnTo>
                  <a:pt x="358" y="475"/>
                </a:lnTo>
                <a:lnTo>
                  <a:pt x="353" y="478"/>
                </a:lnTo>
                <a:lnTo>
                  <a:pt x="347" y="480"/>
                </a:lnTo>
                <a:lnTo>
                  <a:pt x="342" y="483"/>
                </a:lnTo>
                <a:lnTo>
                  <a:pt x="336" y="485"/>
                </a:lnTo>
                <a:lnTo>
                  <a:pt x="330" y="487"/>
                </a:lnTo>
                <a:lnTo>
                  <a:pt x="324" y="489"/>
                </a:lnTo>
                <a:lnTo>
                  <a:pt x="318" y="491"/>
                </a:lnTo>
                <a:lnTo>
                  <a:pt x="312" y="492"/>
                </a:lnTo>
                <a:lnTo>
                  <a:pt x="306" y="494"/>
                </a:lnTo>
                <a:lnTo>
                  <a:pt x="300" y="495"/>
                </a:lnTo>
                <a:lnTo>
                  <a:pt x="294" y="496"/>
                </a:lnTo>
                <a:lnTo>
                  <a:pt x="288" y="497"/>
                </a:lnTo>
                <a:lnTo>
                  <a:pt x="282" y="498"/>
                </a:lnTo>
                <a:lnTo>
                  <a:pt x="276" y="499"/>
                </a:lnTo>
                <a:lnTo>
                  <a:pt x="269" y="499"/>
                </a:lnTo>
                <a:lnTo>
                  <a:pt x="263" y="500"/>
                </a:lnTo>
                <a:lnTo>
                  <a:pt x="256" y="500"/>
                </a:lnTo>
                <a:lnTo>
                  <a:pt x="250" y="500"/>
                </a:lnTo>
                <a:lnTo>
                  <a:pt x="244" y="500"/>
                </a:lnTo>
                <a:lnTo>
                  <a:pt x="237" y="500"/>
                </a:lnTo>
                <a:lnTo>
                  <a:pt x="231" y="499"/>
                </a:lnTo>
                <a:lnTo>
                  <a:pt x="224" y="499"/>
                </a:lnTo>
                <a:lnTo>
                  <a:pt x="218" y="498"/>
                </a:lnTo>
                <a:lnTo>
                  <a:pt x="212" y="497"/>
                </a:lnTo>
                <a:lnTo>
                  <a:pt x="206" y="496"/>
                </a:lnTo>
                <a:lnTo>
                  <a:pt x="200" y="495"/>
                </a:lnTo>
                <a:lnTo>
                  <a:pt x="194" y="494"/>
                </a:lnTo>
                <a:lnTo>
                  <a:pt x="188" y="492"/>
                </a:lnTo>
                <a:lnTo>
                  <a:pt x="182" y="491"/>
                </a:lnTo>
                <a:lnTo>
                  <a:pt x="176" y="489"/>
                </a:lnTo>
                <a:lnTo>
                  <a:pt x="170" y="487"/>
                </a:lnTo>
                <a:lnTo>
                  <a:pt x="164" y="485"/>
                </a:lnTo>
                <a:lnTo>
                  <a:pt x="158" y="483"/>
                </a:lnTo>
                <a:lnTo>
                  <a:pt x="153" y="480"/>
                </a:lnTo>
                <a:lnTo>
                  <a:pt x="147" y="478"/>
                </a:lnTo>
                <a:lnTo>
                  <a:pt x="142" y="475"/>
                </a:lnTo>
                <a:lnTo>
                  <a:pt x="136" y="473"/>
                </a:lnTo>
                <a:lnTo>
                  <a:pt x="131" y="470"/>
                </a:lnTo>
                <a:lnTo>
                  <a:pt x="126" y="467"/>
                </a:lnTo>
                <a:lnTo>
                  <a:pt x="120" y="464"/>
                </a:lnTo>
                <a:lnTo>
                  <a:pt x="115" y="461"/>
                </a:lnTo>
                <a:lnTo>
                  <a:pt x="110" y="457"/>
                </a:lnTo>
                <a:lnTo>
                  <a:pt x="105" y="454"/>
                </a:lnTo>
                <a:lnTo>
                  <a:pt x="100" y="450"/>
                </a:lnTo>
                <a:lnTo>
                  <a:pt x="96" y="447"/>
                </a:lnTo>
                <a:lnTo>
                  <a:pt x="91" y="443"/>
                </a:lnTo>
                <a:lnTo>
                  <a:pt x="86" y="439"/>
                </a:lnTo>
                <a:lnTo>
                  <a:pt x="82" y="435"/>
                </a:lnTo>
                <a:lnTo>
                  <a:pt x="78" y="431"/>
                </a:lnTo>
                <a:lnTo>
                  <a:pt x="73" y="427"/>
                </a:lnTo>
                <a:lnTo>
                  <a:pt x="69" y="422"/>
                </a:lnTo>
                <a:lnTo>
                  <a:pt x="65" y="418"/>
                </a:lnTo>
                <a:lnTo>
                  <a:pt x="61" y="414"/>
                </a:lnTo>
                <a:lnTo>
                  <a:pt x="57" y="409"/>
                </a:lnTo>
                <a:lnTo>
                  <a:pt x="53" y="404"/>
                </a:lnTo>
                <a:lnTo>
                  <a:pt x="50" y="400"/>
                </a:lnTo>
                <a:lnTo>
                  <a:pt x="46" y="395"/>
                </a:lnTo>
                <a:lnTo>
                  <a:pt x="43" y="390"/>
                </a:lnTo>
                <a:lnTo>
                  <a:pt x="39" y="385"/>
                </a:lnTo>
                <a:lnTo>
                  <a:pt x="36" y="380"/>
                </a:lnTo>
                <a:lnTo>
                  <a:pt x="33" y="374"/>
                </a:lnTo>
                <a:lnTo>
                  <a:pt x="30" y="369"/>
                </a:lnTo>
                <a:lnTo>
                  <a:pt x="27" y="364"/>
                </a:lnTo>
                <a:lnTo>
                  <a:pt x="25" y="358"/>
                </a:lnTo>
                <a:lnTo>
                  <a:pt x="22" y="353"/>
                </a:lnTo>
                <a:lnTo>
                  <a:pt x="20" y="347"/>
                </a:lnTo>
                <a:lnTo>
                  <a:pt x="17" y="342"/>
                </a:lnTo>
                <a:lnTo>
                  <a:pt x="15" y="336"/>
                </a:lnTo>
                <a:lnTo>
                  <a:pt x="13" y="330"/>
                </a:lnTo>
                <a:lnTo>
                  <a:pt x="11" y="324"/>
                </a:lnTo>
                <a:lnTo>
                  <a:pt x="9" y="318"/>
                </a:lnTo>
                <a:lnTo>
                  <a:pt x="8" y="312"/>
                </a:lnTo>
                <a:lnTo>
                  <a:pt x="6" y="306"/>
                </a:lnTo>
                <a:lnTo>
                  <a:pt x="5" y="300"/>
                </a:lnTo>
                <a:lnTo>
                  <a:pt x="4" y="294"/>
                </a:lnTo>
                <a:lnTo>
                  <a:pt x="3" y="288"/>
                </a:lnTo>
                <a:lnTo>
                  <a:pt x="2" y="282"/>
                </a:lnTo>
                <a:lnTo>
                  <a:pt x="1" y="276"/>
                </a:lnTo>
                <a:lnTo>
                  <a:pt x="1" y="269"/>
                </a:lnTo>
                <a:lnTo>
                  <a:pt x="0" y="263"/>
                </a:lnTo>
                <a:lnTo>
                  <a:pt x="0" y="256"/>
                </a:lnTo>
                <a:lnTo>
                  <a:pt x="0" y="250"/>
                </a:lnTo>
                <a:lnTo>
                  <a:pt x="0" y="244"/>
                </a:lnTo>
                <a:lnTo>
                  <a:pt x="0" y="237"/>
                </a:lnTo>
                <a:lnTo>
                  <a:pt x="1" y="231"/>
                </a:lnTo>
                <a:lnTo>
                  <a:pt x="1" y="224"/>
                </a:lnTo>
                <a:lnTo>
                  <a:pt x="2" y="218"/>
                </a:lnTo>
                <a:lnTo>
                  <a:pt x="3" y="212"/>
                </a:lnTo>
                <a:lnTo>
                  <a:pt x="4" y="206"/>
                </a:lnTo>
                <a:lnTo>
                  <a:pt x="5" y="200"/>
                </a:lnTo>
                <a:lnTo>
                  <a:pt x="6" y="194"/>
                </a:lnTo>
                <a:lnTo>
                  <a:pt x="8" y="188"/>
                </a:lnTo>
                <a:lnTo>
                  <a:pt x="9" y="182"/>
                </a:lnTo>
                <a:lnTo>
                  <a:pt x="11" y="176"/>
                </a:lnTo>
                <a:lnTo>
                  <a:pt x="13" y="170"/>
                </a:lnTo>
                <a:lnTo>
                  <a:pt x="15" y="164"/>
                </a:lnTo>
                <a:lnTo>
                  <a:pt x="17" y="158"/>
                </a:lnTo>
                <a:lnTo>
                  <a:pt x="20" y="153"/>
                </a:lnTo>
                <a:lnTo>
                  <a:pt x="22" y="147"/>
                </a:lnTo>
                <a:lnTo>
                  <a:pt x="25" y="142"/>
                </a:lnTo>
                <a:lnTo>
                  <a:pt x="27" y="136"/>
                </a:lnTo>
                <a:lnTo>
                  <a:pt x="30" y="131"/>
                </a:lnTo>
                <a:lnTo>
                  <a:pt x="33" y="126"/>
                </a:lnTo>
                <a:lnTo>
                  <a:pt x="36" y="120"/>
                </a:lnTo>
                <a:lnTo>
                  <a:pt x="39" y="115"/>
                </a:lnTo>
                <a:lnTo>
                  <a:pt x="43" y="110"/>
                </a:lnTo>
                <a:lnTo>
                  <a:pt x="46" y="105"/>
                </a:lnTo>
                <a:lnTo>
                  <a:pt x="50" y="100"/>
                </a:lnTo>
                <a:lnTo>
                  <a:pt x="53" y="96"/>
                </a:lnTo>
                <a:lnTo>
                  <a:pt x="57" y="91"/>
                </a:lnTo>
                <a:lnTo>
                  <a:pt x="61" y="86"/>
                </a:lnTo>
                <a:lnTo>
                  <a:pt x="65" y="82"/>
                </a:lnTo>
                <a:lnTo>
                  <a:pt x="67" y="80"/>
                </a:lnTo>
                <a:lnTo>
                  <a:pt x="380" y="80"/>
                </a:lnTo>
                <a:close/>
              </a:path>
            </a:pathLst>
          </a:custGeom>
          <a:gradFill>
            <a:gsLst>
              <a:gs pos="0">
                <a:srgbClr val="3B82F6">
                  <a:alpha val="15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381000" y="3429000"/>
            <a:ext cx="2857500" cy="2857500"/>
          </a:xfrm>
          <a:prstGeom prst="rect">
            <a:avLst/>
          </a:prstGeom>
          <a:gradFill>
            <a:gsLst>
              <a:gs pos="0">
                <a:srgbClr val="8B5CF6">
                  <a:alpha val="8000"/>
                </a:srgbClr>
              </a:gs>
              <a:gs pos="6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5" name=""/>
          <p:cNvPicPr>
            <a:picLocks noChangeAspect="1"/>
          </p:cNvPicPr>
          <p:nvPr/>
        </p:nvPicPr>
        <p:blipFill>
          <a:blip>
            <a:alphaModFix amt="4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" name=""/>
          <p:cNvSpPr/>
          <p:nvPr/>
        </p:nvSpPr>
        <p:spPr>
          <a:xfrm rot="0" flipH="0" flipV="0"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B82F6"/>
              </a:gs>
              <a:gs pos="50000">
                <a:srgbClr val="8B5CF6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7" name=""/>
          <p:cNvSpPr/>
          <p:nvPr/>
        </p:nvSpPr>
        <p:spPr>
          <a:xfrm rot="0" flipH="0" flipV="0">
            <a:off x="857250" y="2171700"/>
            <a:ext cx="3810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3B82F6"/>
              </a:gs>
              <a:gs pos="100000">
                <a:srgbClr val="8B5CF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352550" y="2085975"/>
            <a:ext cx="2238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3B82F6"/>
                </a:solidFill>
                <a:latin typeface="Microsoft YaHei"/>
                <a:ea typeface="Microsoft YaHei"/>
              </a:rPr>
              <a:t>AI AGENT · </a:t>
            </a:r>
            <a:r>
              <a:rPr lang="zh-CN" sz="1200" b="1" spc="300">
                <a:solidFill>
                  <a:srgbClr val="3B82F6"/>
                </a:solidFill>
                <a:latin typeface="Microsoft YaHei"/>
                <a:ea typeface="Microsoft YaHei"/>
              </a:rPr>
              <a:t>全流程开发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57250" y="2562225"/>
            <a:ext cx="5486400" cy="8858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>
                <a:solidFill>
                  <a:srgbClr val="F1F5F9"/>
                </a:solidFill>
                <a:effectLst>
                  <a:outerShdw blurRad="381000" dist="0" dir="0">
                    <a:srgbClr val="3B82F6">
                      <a:alpha val="30000"/>
                    </a:srgbClr>
                  </a:outerShdw>
                </a:effectLst>
                <a:latin typeface="Microsoft YaHei"/>
                <a:ea typeface="Microsoft YaHei"/>
              </a:rPr>
              <a:t>AI</a:t>
            </a:r>
            <a:r>
              <a:rPr lang="zh-CN" sz="4800" b="1">
                <a:solidFill>
                  <a:srgbClr val="F1F5F9"/>
                </a:solidFill>
                <a:effectLst>
                  <a:outerShdw blurRad="381000" dist="0" dir="0">
                    <a:srgbClr val="3B82F6">
                      <a:alpha val="30000"/>
                    </a:srgbClr>
                  </a:outerShdw>
                </a:effectLst>
                <a:latin typeface="Microsoft YaHei"/>
                <a:ea typeface="Microsoft YaHei"/>
              </a:rPr>
              <a:t>赋能开课管理系统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57250" y="3543300"/>
            <a:ext cx="4267200" cy="8858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gradFill>
                  <a:gsLst>
                    <a:gs pos="0">
                      <a:srgbClr val="06B6D4"/>
                    </a:gs>
                    <a:gs pos="100000">
                      <a:srgbClr val="3B82F6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全流程提效实战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57250" y="4714875"/>
            <a:ext cx="577215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产品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开发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测试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> — AI Agent 7×24 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自主作业，代码生成占比超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> 85%</a:t>
            </a:r>
            <a:endParaRPr/>
          </a:p>
        </p:txBody>
      </p:sp>
      <p:pic>
        <p:nvPicPr>
          <p:cNvPr id="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57250" y="5943600"/>
            <a:ext cx="171450" cy="171450"/>
          </a:xfrm>
          <a:prstGeom prst="rect">
            <a:avLst/>
          </a:prstGeom>
          <a:ln/>
        </p:spPr>
      </p:pic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104900" y="5953125"/>
            <a:ext cx="70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参赛团队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2190750" y="5943600"/>
            <a:ext cx="171450" cy="171450"/>
          </a:xfrm>
          <a:prstGeom prst="rect">
            <a:avLst/>
          </a:prstGeom>
          <a:ln/>
        </p:spPr>
      </p:pic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438400" y="5953125"/>
            <a:ext cx="638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2026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8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53" name="" descr="&lt;Slide style={{ width: 1280, height: 720, background: '#0A0E27', padding: '60px 70px 40px 70px' }}&gt;&#10;  {/* A区 标题块 */}&#10;  &lt;Box style={{ height: 100, borderLeft: '4px solid', borderImage: 'linear-gradient(180deg, #3B82F6, #8B5CF6) 1', paddingLeft: 20, justifyContent: 'center', marginBottom: 10 }}&gt;&#10;    &lt;Text style={{ fontSize: 34, fontWeight: 'bold', color: '#F1F5F9' }}&gt;传统开课管理的挑战&lt;/Text&gt;&#10;    &lt;Text style={{ fontSize: 16, color: '#64748B', marginTop: 4 }}&gt;痛点驱动 · 目录导航&lt;/Text&gt;&#10;  &lt;/Box&gt;&#10;&#10;  {/* B区 内容区：左右分栏 */}&#10;  &lt;Box style={{ flexDirection: 'row', flex: 1, gap: 40 }}&gt;&#10;    {/* 左侧：3个痛点 */}&#10;    &lt;Box style={{ flex: 1, gap: 20 }}&gt;&#10;      {[&#10;        { icon: 'clock', title: '需求响应慢', desc: '从需求梳理到原型落地，传统流程需 2-3 周，沟通成本高、反复修改多', color: '#F59E0B' },&#10;        { icon: 'code', title: '开发周期长', desc: '前后端+测试全链路人工编码，易出错、难追溯，项目交付延期风险大', color: '#EF4444' },&#10;        { icon: 'file', title: '文档维护难', desc: '需求文档、PRD、用户手册需人工编写，更新滞后，版本管理混乱', color: '#F97316' },&#10;      ].map((item, i) =&gt; (&#10;        &lt;Box key={i} style={{&#10;          background: '#131C3D', borderRadius: 12, padding: '20px 24px',&#10;          borderLeft: `3px solid ${item.color}`, gap: 8&#10;        }}&gt;&#10;          &lt;Box style={{ flexDirection: 'row', alignItems: 'center', gap: 10 }}&gt;&#10;            &lt;FAIcon name={item.icon} style={{ fill: item.color, width: 22, height: 22 }} /&gt;&#10;            &lt;Text style={{ fontSize: 20, fontWeight: 'bold', color: '#F1F5F9' }}&gt;{item.title}&lt;/Text&gt;&#10;          &lt;/Box&gt;&#10;          &lt;Text style={{ fontSize: 15, color: '#94A3B8', lineHeight: 1.6 }}&gt;{item.desc}&lt;/Text&gt;&#10;        &lt;/Box&gt;&#10;      ))}&#10;    &lt;/Box&gt;&#10;&#10;    {/* 右侧：目录 */}&#10;    &lt;Box style={{ width: 340, background: '#131C3D', borderRadius: 14, padding: '24px 28px', gap: 16 }}&gt;&#10;      &lt;Text style={{ fontSize: 20, fontWeight: 'bold', color: '#3B82F6', marginBottom: 4 }}&gt;路演目录&lt;/Text&gt;&#10;      {[&#10;        { num: '01', label: 'AI全流程赋能全景', icon: 'globe' },&#10;        { num: '02', label: '产品侧AI提效', icon: 'lightbulb' },&#10;        { num: '03', label: '开发侧AI提效', icon: 'code' },&#10;        { num: '04', label: '评分维度对标展示', icon: 'star' },&#10;        { num: '05', label: '现场演示与总结', icon: 'play-circle' },&#10;      ].map((item, i) =&gt; (&#10;        &lt;Box key={i} style={{ flexDirection: 'row', alignItems: 'center', gap: 14, padding: '10px 0', borderBottom: i &lt; 4 ? '1px solid rgba(148,163,184,0.1)' : 'none' }}&gt;&#10;          &lt;Text style={{ fontSize: 22, fontWeight: 'bold', color: '#06B6D4', minWidth: 32 }}&gt;{item.num}&lt;/Text&gt;&#10;          &lt;FAIcon name={item.icon} style={{ fill: '#3B82F6', width: 16, height: 16 }} /&gt;&#10;          &lt;Text style={{ fontSize: 16, color: '#E2E8F0' }}&gt;{item.label}&lt;/Text&gt;&#10;        &lt;/Box&gt;&#10;      ))}&#10;    &lt;/Box&gt;&#10;  &lt;/Box&gt;&#10;&#10;  {/* C区 页脚 */}&#10;  &lt;Box style={{ height: 40, flexDirection: 'row', justifyContent: 'space-between', alignItems: 'center', marginTop: 10 }}&gt;&#10;    &lt;Text style={{ fontSize: 14, color: '#64748B' }}&gt;AI大赛 · 开课管理系统&lt;/Text&gt;&#10;    &lt;Text style={{ fontSize: 14, color: '#64748B' }}&gt;02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666750" y="571500"/>
            <a:ext cx="10896600" cy="952500"/>
          </a:xfrm>
          <a:custGeom>
            <a:pathLst>
              <a:path w="1144" h="100">
                <a:moveTo>
                  <a:pt x="0" y="0"/>
                </a:moveTo>
                <a:lnTo>
                  <a:pt x="4" y="0"/>
                </a:lnTo>
                <a:lnTo>
                  <a:pt x="4" y="100"/>
                </a:lnTo>
                <a:lnTo>
                  <a:pt x="0" y="10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8B5CF6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95350" y="742950"/>
            <a:ext cx="10629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传统开课管理的挑战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95350" y="1171575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痛点驱动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目录导航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95325" y="1619250"/>
            <a:ext cx="7239000" cy="962025"/>
          </a:xfrm>
          <a:prstGeom prst="roundRect">
            <a:avLst>
              <a:gd name="adj" fmla="val 11881"/>
            </a:avLst>
          </a:prstGeom>
          <a:solidFill>
            <a:srgbClr val="131C3D"/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695325" y="1619250"/>
            <a:ext cx="7239000" cy="962025"/>
          </a:xfrm>
          <a:custGeom>
            <a:pathLst>
              <a:path w="760" h="101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92"/>
                </a:lnTo>
                <a:cubicBezTo>
                  <a:pt x="3" y="96"/>
                  <a:pt x="6" y="100"/>
                  <a:pt x="10" y="101"/>
                </a:cubicBezTo>
                <a:cubicBezTo>
                  <a:pt x="4" y="100"/>
                  <a:pt x="0" y="95"/>
                  <a:pt x="0" y="8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pic>
        <p:nvPicPr>
          <p:cNvPr id="1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3925" y="1819275"/>
            <a:ext cx="209550" cy="209550"/>
          </a:xfrm>
          <a:prstGeom prst="rect">
            <a:avLst/>
          </a:prstGeom>
          <a:ln/>
        </p:spPr>
      </p:pic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228725" y="180975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1F5F9"/>
                </a:solidFill>
                <a:latin typeface="Microsoft YaHei"/>
                <a:ea typeface="Microsoft YaHei"/>
              </a:rPr>
              <a:t>需求响应慢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923925" y="2114550"/>
            <a:ext cx="67532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从需求梳理到原型落地，传统流程需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 2-3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周，沟通成本高、反复修改多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95325" y="2771775"/>
            <a:ext cx="7239000" cy="962025"/>
          </a:xfrm>
          <a:prstGeom prst="roundRect">
            <a:avLst>
              <a:gd name="adj" fmla="val 11881"/>
            </a:avLst>
          </a:prstGeom>
          <a:solidFill>
            <a:srgbClr val="131C3D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695325" y="2771775"/>
            <a:ext cx="7239000" cy="962025"/>
          </a:xfrm>
          <a:custGeom>
            <a:pathLst>
              <a:path w="760" h="101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92"/>
                </a:lnTo>
                <a:cubicBezTo>
                  <a:pt x="3" y="96"/>
                  <a:pt x="6" y="100"/>
                  <a:pt x="10" y="101"/>
                </a:cubicBezTo>
                <a:cubicBezTo>
                  <a:pt x="4" y="100"/>
                  <a:pt x="0" y="95"/>
                  <a:pt x="0" y="8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pic>
        <p:nvPicPr>
          <p:cNvPr id="1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23925" y="2971800"/>
            <a:ext cx="209550" cy="209550"/>
          </a:xfrm>
          <a:prstGeom prst="rect">
            <a:avLst/>
          </a:prstGeom>
          <a:ln/>
        </p:spPr>
      </p:pic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228725" y="296227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1F5F9"/>
                </a:solidFill>
                <a:latin typeface="Microsoft YaHei"/>
                <a:ea typeface="Microsoft YaHei"/>
              </a:rPr>
              <a:t>开发周期长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923925" y="3267075"/>
            <a:ext cx="67532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前后端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+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测试全链路人工编码，易出错、难追溯，项目交付延期风险大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95325" y="3924300"/>
            <a:ext cx="7239000" cy="962025"/>
          </a:xfrm>
          <a:prstGeom prst="roundRect">
            <a:avLst>
              <a:gd name="adj" fmla="val 11881"/>
            </a:avLst>
          </a:prstGeom>
          <a:solidFill>
            <a:srgbClr val="131C3D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695325" y="3924300"/>
            <a:ext cx="7239000" cy="962025"/>
          </a:xfrm>
          <a:custGeom>
            <a:pathLst>
              <a:path w="760" h="101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92"/>
                </a:lnTo>
                <a:cubicBezTo>
                  <a:pt x="3" y="96"/>
                  <a:pt x="6" y="100"/>
                  <a:pt x="10" y="101"/>
                </a:cubicBezTo>
                <a:cubicBezTo>
                  <a:pt x="4" y="100"/>
                  <a:pt x="0" y="95"/>
                  <a:pt x="0" y="8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pic>
        <p:nvPicPr>
          <p:cNvPr id="1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23925" y="4124325"/>
            <a:ext cx="209550" cy="209550"/>
          </a:xfrm>
          <a:prstGeom prst="rect">
            <a:avLst/>
          </a:prstGeom>
          <a:ln/>
        </p:spPr>
      </p:pic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228725" y="411480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1F5F9"/>
                </a:solidFill>
                <a:latin typeface="Microsoft YaHei"/>
                <a:ea typeface="Microsoft YaHei"/>
              </a:rPr>
              <a:t>文档维护难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923925" y="4419600"/>
            <a:ext cx="67532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需求文档、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PRD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、用户手册需人工编写，更新滞后，版本管理混乱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8286750" y="1619250"/>
            <a:ext cx="3238500" cy="4381500"/>
          </a:xfrm>
          <a:prstGeom prst="roundRect">
            <a:avLst>
              <a:gd name="adj" fmla="val 4118"/>
            </a:avLst>
          </a:prstGeom>
          <a:solidFill>
            <a:srgbClr val="131C3D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553450" y="1847850"/>
            <a:ext cx="2705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B82F6"/>
                </a:solidFill>
                <a:latin typeface="Microsoft YaHei"/>
                <a:ea typeface="Microsoft YaHei"/>
              </a:rPr>
              <a:t>路演目录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8553450" y="2266950"/>
            <a:ext cx="2705100" cy="466725"/>
          </a:xfrm>
          <a:custGeom>
            <a:pathLst>
              <a:path w="284" h="49">
                <a:moveTo>
                  <a:pt x="0" y="48"/>
                </a:moveTo>
                <a:lnTo>
                  <a:pt x="284" y="48"/>
                </a:lnTo>
                <a:lnTo>
                  <a:pt x="284" y="49"/>
                </a:lnTo>
                <a:lnTo>
                  <a:pt x="0" y="49"/>
                </a:lnTo>
                <a:close/>
              </a:path>
            </a:pathLst>
          </a:custGeom>
          <a:solidFill>
            <a:srgbClr val="94A3B8">
              <a:alpha val="10000"/>
            </a:srgbClr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553450" y="2362200"/>
            <a:ext cx="30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pic>
        <p:nvPicPr>
          <p:cNvPr id="1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991600" y="2419350"/>
            <a:ext cx="152400" cy="152400"/>
          </a:xfrm>
          <a:prstGeom prst="rect">
            <a:avLst/>
          </a:prstGeom>
          <a:ln/>
        </p:spPr>
      </p:pic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277350" y="24003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>AI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全流程赋能全景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8553450" y="2876550"/>
            <a:ext cx="2705100" cy="466725"/>
          </a:xfrm>
          <a:custGeom>
            <a:pathLst>
              <a:path w="284" h="49">
                <a:moveTo>
                  <a:pt x="0" y="48"/>
                </a:moveTo>
                <a:lnTo>
                  <a:pt x="284" y="48"/>
                </a:lnTo>
                <a:lnTo>
                  <a:pt x="284" y="49"/>
                </a:lnTo>
                <a:lnTo>
                  <a:pt x="0" y="49"/>
                </a:lnTo>
                <a:close/>
              </a:path>
            </a:pathLst>
          </a:custGeom>
          <a:solidFill>
            <a:srgbClr val="94A3B8">
              <a:alpha val="10000"/>
            </a:srgbClr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553450" y="2971800"/>
            <a:ext cx="30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pic>
        <p:nvPicPr>
          <p:cNvPr id="1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991600" y="3028950"/>
            <a:ext cx="152400" cy="152400"/>
          </a:xfrm>
          <a:prstGeom prst="rect">
            <a:avLst/>
          </a:prstGeom>
          <a:ln/>
        </p:spPr>
      </p:pic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9277350" y="30099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产品侧</a:t>
            </a: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>AI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提效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8553450" y="3486150"/>
            <a:ext cx="2705100" cy="466725"/>
          </a:xfrm>
          <a:custGeom>
            <a:pathLst>
              <a:path w="284" h="49">
                <a:moveTo>
                  <a:pt x="0" y="48"/>
                </a:moveTo>
                <a:lnTo>
                  <a:pt x="284" y="48"/>
                </a:lnTo>
                <a:lnTo>
                  <a:pt x="284" y="49"/>
                </a:lnTo>
                <a:lnTo>
                  <a:pt x="0" y="49"/>
                </a:lnTo>
                <a:close/>
              </a:path>
            </a:pathLst>
          </a:custGeom>
          <a:solidFill>
            <a:srgbClr val="94A3B8">
              <a:alpha val="10000"/>
            </a:srgbClr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553450" y="3581400"/>
            <a:ext cx="30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pic>
        <p:nvPicPr>
          <p:cNvPr id="1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991600" y="3638550"/>
            <a:ext cx="152400" cy="152400"/>
          </a:xfrm>
          <a:prstGeom prst="rect">
            <a:avLst/>
          </a:prstGeom>
          <a:ln/>
        </p:spPr>
      </p:pic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9277350" y="36195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开发侧</a:t>
            </a: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>AI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提效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8553450" y="4095750"/>
            <a:ext cx="2705100" cy="466725"/>
          </a:xfrm>
          <a:custGeom>
            <a:pathLst>
              <a:path w="284" h="49">
                <a:moveTo>
                  <a:pt x="0" y="48"/>
                </a:moveTo>
                <a:lnTo>
                  <a:pt x="284" y="48"/>
                </a:lnTo>
                <a:lnTo>
                  <a:pt x="284" y="49"/>
                </a:lnTo>
                <a:lnTo>
                  <a:pt x="0" y="49"/>
                </a:lnTo>
                <a:close/>
              </a:path>
            </a:pathLst>
          </a:custGeom>
          <a:solidFill>
            <a:srgbClr val="94A3B8">
              <a:alpha val="10000"/>
            </a:srgbClr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553450" y="4191000"/>
            <a:ext cx="30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pic>
        <p:nvPicPr>
          <p:cNvPr id="1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8991600" y="4248150"/>
            <a:ext cx="152400" cy="152400"/>
          </a:xfrm>
          <a:prstGeom prst="rect">
            <a:avLst/>
          </a:prstGeom>
          <a:ln/>
        </p:spPr>
      </p:pic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9277350" y="42291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评分维度对标展示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553450" y="4800600"/>
            <a:ext cx="30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pic>
        <p:nvPicPr>
          <p:cNvPr id="1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8991600" y="4857750"/>
            <a:ext cx="152400" cy="152400"/>
          </a:xfrm>
          <a:prstGeom prst="rect">
            <a:avLst/>
          </a:prstGeom>
          <a:ln/>
        </p:spPr>
      </p:pic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9277350" y="483870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现场演示与总结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大赛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开课管理系统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1115675" y="6210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02 / 13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96" name="" descr="&lt;Slide style={{ width: 1280, height: 720, background: '#0A0E27', padding: '50px 70px 40px 70px' }}&gt;&#10;  {/* A区 标题块 */}&#10;  &lt;Box style={{ height: 80, borderLeft: '4px solid', borderImage: 'linear-gradient(180deg, #06B6D4, #3B82F6) 1', paddingLeft: 20, justifyContent: 'center', marginBottom: 15 }}&gt;&#10;    &lt;Text style={{ fontSize: 34, fontWeight: 'bold', color: '#F1F5F9' }}&gt;AI 全流程赋能全景图&lt;/Text&gt;&#10;  &lt;/Box&gt;&#10;&#10;  {/* B区 — 流程大图 */}&#10;  &lt;Box style={{ flex: 1, justifyContent: 'center', gap: 16 }}&gt;&#10;    {/* 流程主轴 */}&#10;    &lt;Box style={{ flexDirection: 'row', alignItems: 'stretch', gap: 16, height: 240 }}&gt;&#10;      {/* 产品阶段 */}&#10;      &lt;Box style={{ flex: 1, background: 'linear-gradient(180deg, rgba(139,92,246,0.12) 0%, rgba(139,92,246,0.04) 100%)', borderRadius: 16, border: '1px solid rgba(139,92,246,0.25)', padding: '20px 24px', gap: 12, justifyContent: 'center' }}&gt;&#10;        &lt;Box style={{ flexDirection: 'row', alignItems: 'center', gap: 10 }}&gt;&#10;          &lt;Box style={{ width: 36, height: 36, borderRadius: 10, background: 'rgba(139,92,246,0.2)', justifyContent: 'center', alignItems: 'center' }}&gt;&#10;            &lt;FAIcon name='lightbulb' style={{ fill: '#8B5CF6', width: 20, height: 20 }} /&gt;&#10;          &lt;/Box&gt;&#10;          &lt;Text style={{ fontSize: 22, fontWeight: 'bold', color: '#F1F5F9' }}&gt;产品侧&lt;/Text&gt;&#10;        &lt;/Box&gt;&#10;        {['需求梳理 → AI文档', '动态可交互原型', 'PRD/用户操作手册'].map((t, i) =&gt; (&#10;          &lt;Box key={i} style={{ flexDirection: 'row', alignItems: 'center', gap: 8 }}&gt;&#10;            &lt;Box style={{ width: 6, height: 6, borderRadius: 3, background: '#8B5CF6' }} /&gt;&#10;            &lt;Text style={{ fontSize: 15, color: '#C4B5FD' }}&gt;{t}&lt;/Text&gt;&#10;          &lt;/Box&gt;&#10;        ))}&#10;      &lt;/Box&gt;&#10;&#10;      {/* 箭头 */}&#10;      &lt;Box style={{ justifyContent: 'center', alignItems: 'center', width: 40 }}&gt;&#10;        &lt;FAIcon name='arrow-right' style={{ fill: '#06B6D4', width: 28, height: 28 }} /&gt;&#10;      &lt;/Box&gt;&#10;&#10;      {/* 开发阶段 */}&#10;      &lt;Box style={{ flex: 1, background: 'linear-gradient(180deg, rgba(59,130,246,0.12) 0%, rgba(59,130,246,0.04) 100%)', borderRadius: 16, border: '1px solid rgba(59,130,246,0.25)', padding: '20px 24px', gap: 12, justifyContent: 'center' }}&gt;&#10;        &lt;Box style={{ flexDirection: 'row', alignItems: 'center', gap: 10 }}&gt;&#10;          &lt;Box style={{ width: 36, height: 36, borderRadius: 10, background: 'rgba(59,130,246,0.2)', justifyContent: 'center', alignItems: 'center' }}&gt;&#10;            &lt;FAIcon name='code' style={{ fill: '#3B82F6', width: 20, height: 20 }} /&gt;&#10;          &lt;/Box&gt;&#10;          &lt;Text style={{ fontSize: 22, fontWeight: 'bold', color: '#F1F5F9' }}&gt;开发侧&lt;/Text&gt;&#10;        &lt;/Box&gt;&#10;        {['后端：DB+API+代码', '前端：组件库+原型→页面', '测试：用例→报告'].map((t, i) =&gt; (&#10;          &lt;Box key={i} style={{ flexDirection: 'row', alignItems: 'center', gap: 8 }}&gt;&#10;            &lt;Box style={{ width: 6, height: 6, borderRadius: 3, background: '#3B82F6' }} /&gt;&#10;            &lt;Text style={{ fontSize: 15, color: '#93C5FD' }}&gt;{t}&lt;/Text&gt;&#10;          &lt;/Box&gt;&#10;        ))}&#10;      &lt;/Box&gt;&#10;    &lt;/Box&gt;&#10;&#10;    {/* 底部三卡片 */}&#10;    &lt;Box style={{ flexDirection: 'row', gap: 16, height: 170 }}&gt;&#10;      {[&#10;        { icon: 'clock', num: '7×24', unit: '小时', label: 'Agent 自主作业', sub: '无人值守持续迭代', color: '#06B6D4', bgc: 'rgba(6,182,212,0.08)' },&#10;        { icon: 'chart-line', num: '85%', unit: '', label: '代码AI生成占比', sub: '前后端+测试全覆盖', color: '#3B82F6', bgc: 'rgba(59,130,246,0.08)' },&#10;        { icon: 'layer-group', num: '30+', unit: '', label: '可复用AI Skill', sub: '马来项目定制化扩展', color: '#8B5CF6', bgc: 'rgba(139,92,246,0.08)' },&#10;      ].map((c, i) =&gt; (&#10;        &lt;Box key={i} style={{ flex: 1, background: '#131C3D', borderRadius: 14, padding: '20px 24px', border: `1px solid ${c.bgc}`, gap: 8, justifyContent: 'center', alignItems: 'center' }}&gt;&#10;          &lt;FAIcon name={c.icon} style={{ fill: c.color, width: 24, height: 24 }} /&gt;&#10;          &lt;Box style={{ flexDirection: 'row', alignItems: 'baseline', gap: 4 }}&gt;&#10;            &lt;Text style={{ fontSize: 48, fontWeight: 'bold', color: c.color, lineHeight: 1 }}&gt;{c.num}&lt;/Text&gt;&#10;            {c.unit &amp;&amp; &lt;Text style={{ fontSize: 18, color: c.color }}&gt;{c.unit}&lt;/Text&gt;}&#10;          &lt;/Box&gt;&#10;          &lt;Text style={{ fontSize: 18, fontWeight: 'bold', color: '#F1F5F9' }}&gt;{c.label}&lt;/Text&gt;&#10;          &lt;Text style={{ fontSize: 13, color: '#64748B' }}&gt;{c.sub}&lt;/Text&gt;&#10;        &lt;/Box&gt;&#10;      ))}&#10;    &lt;/Box&gt;&#10;  &lt;/Box&gt;&#10;&#10;  {/* C区 */}&#10;  &lt;Box style={{ height: 40, flexDirection: 'row', justifyContent: 'space-between', alignItems: 'center', marginTop: 10 }}&gt;&#10;    &lt;Text style={{ fontSize: 14, color: '#64748B' }}&gt;AI大赛 · 开课管理系统&lt;/Text&gt;&#10;    &lt;Text style={{ fontSize: 14, color: '#64748B' }}&gt;03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666750" y="476250"/>
            <a:ext cx="10896600" cy="762000"/>
          </a:xfrm>
          <a:custGeom>
            <a:pathLst>
              <a:path w="1144" h="80">
                <a:moveTo>
                  <a:pt x="0" y="0"/>
                </a:moveTo>
                <a:lnTo>
                  <a:pt x="4" y="0"/>
                </a:lnTo>
                <a:lnTo>
                  <a:pt x="4" y="80"/>
                </a:lnTo>
                <a:lnTo>
                  <a:pt x="0" y="80"/>
                </a:lnTo>
                <a:close/>
              </a:path>
            </a:pathLst>
          </a:custGeom>
          <a:gradFill>
            <a:gsLst>
              <a:gs pos="0">
                <a:srgbClr val="06B6D4"/>
              </a:gs>
              <a:gs pos="100000">
                <a:srgbClr val="3B82F6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95350" y="666750"/>
            <a:ext cx="10629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1F5F9"/>
                </a:solidFill>
                <a:latin typeface="Microsoft YaHei"/>
                <a:ea typeface="Microsoft YaHei"/>
              </a:rPr>
              <a:t>AI </a:t>
            </a: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全流程赋能全景图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66750" y="1666875"/>
            <a:ext cx="5086350" cy="2286000"/>
          </a:xfrm>
          <a:prstGeom prst="roundRect">
            <a:avLst>
              <a:gd name="adj" fmla="val 6667"/>
            </a:avLst>
          </a:prstGeom>
          <a:gradFill>
            <a:gsLst>
              <a:gs pos="0">
                <a:srgbClr val="8B5CF6">
                  <a:alpha val="12000"/>
                </a:srgbClr>
              </a:gs>
              <a:gs pos="100000">
                <a:srgbClr val="8B5CF6">
                  <a:alpha val="4000"/>
                </a:srgbClr>
              </a:gs>
            </a:gsLst>
            <a:lin ang="5400000" scaled="1"/>
          </a:gradFill>
          <a:ln w="12700">
            <a:solidFill>
              <a:srgbClr val="8B5CF6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895350" y="22098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8B5CF6">
              <a:alpha val="20000"/>
            </a:srgbClr>
          </a:solidFill>
          <a:ln/>
        </p:spPr>
        <p:txBody>
          <a:bodyPr/>
          <a:p/>
        </p:txBody>
      </p:sp>
      <p:pic>
        <p:nvPicPr>
          <p:cNvPr id="2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71550" y="2286000"/>
            <a:ext cx="190500" cy="190500"/>
          </a:xfrm>
          <a:prstGeom prst="rect">
            <a:avLst/>
          </a:prstGeom>
          <a:ln/>
        </p:spPr>
      </p:pic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333500" y="2257425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1F5F9"/>
                </a:solidFill>
                <a:latin typeface="Microsoft YaHei"/>
                <a:ea typeface="Microsoft YaHei"/>
              </a:rPr>
              <a:t>产品侧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895350" y="2724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028700" y="266700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4B5FD"/>
                </a:solidFill>
                <a:latin typeface="Microsoft YaHei"/>
                <a:ea typeface="Microsoft YaHei"/>
              </a:rPr>
              <a:t>需求梳理</a:t>
            </a:r>
            <a:r>
              <a:rPr lang="en-US" sz="1125">
                <a:solidFill>
                  <a:srgbClr val="C4B5FD"/>
                </a:solidFill>
                <a:latin typeface="Microsoft YaHei"/>
                <a:ea typeface="Microsoft YaHei"/>
              </a:rPr>
              <a:t> → AI</a:t>
            </a:r>
            <a:r>
              <a:rPr lang="zh-CN" sz="1125">
                <a:solidFill>
                  <a:srgbClr val="C4B5FD"/>
                </a:solidFill>
                <a:latin typeface="Microsoft YaHei"/>
                <a:ea typeface="Microsoft YaHei"/>
              </a:rPr>
              <a:t>文档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895350" y="30099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028700" y="29527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4B5FD"/>
                </a:solidFill>
                <a:latin typeface="Microsoft YaHei"/>
                <a:ea typeface="Microsoft YaHei"/>
              </a:rPr>
              <a:t>动态可交互原型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895350" y="3295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028700" y="3238500"/>
            <a:ext cx="1200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4B5FD"/>
                </a:solidFill>
                <a:latin typeface="Microsoft YaHei"/>
                <a:ea typeface="Microsoft YaHei"/>
              </a:rPr>
              <a:t>PRD/</a:t>
            </a:r>
            <a:r>
              <a:rPr lang="zh-CN" sz="1125">
                <a:solidFill>
                  <a:srgbClr val="C4B5FD"/>
                </a:solidFill>
                <a:latin typeface="Microsoft YaHei"/>
                <a:ea typeface="Microsoft YaHei"/>
              </a:rPr>
              <a:t>用户操作手册</a:t>
            </a:r>
            <a:endParaRPr/>
          </a:p>
        </p:txBody>
      </p:sp>
      <p:pic>
        <p:nvPicPr>
          <p:cNvPr id="2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62650" y="2676525"/>
            <a:ext cx="266700" cy="266700"/>
          </a:xfrm>
          <a:prstGeom prst="rect">
            <a:avLst/>
          </a:prstGeom>
          <a:ln/>
        </p:spPr>
      </p:pic>
      <p:sp>
        <p:nvSpPr>
          <p:cNvPr id="211" name=""/>
          <p:cNvSpPr/>
          <p:nvPr/>
        </p:nvSpPr>
        <p:spPr>
          <a:xfrm rot="0" flipH="0" flipV="0">
            <a:off x="6438900" y="1666875"/>
            <a:ext cx="5086350" cy="2286000"/>
          </a:xfrm>
          <a:prstGeom prst="roundRect">
            <a:avLst>
              <a:gd name="adj" fmla="val 6667"/>
            </a:avLst>
          </a:prstGeom>
          <a:gradFill>
            <a:gsLst>
              <a:gs pos="0">
                <a:srgbClr val="3B82F6">
                  <a:alpha val="12000"/>
                </a:srgbClr>
              </a:gs>
              <a:gs pos="100000">
                <a:srgbClr val="3B82F6">
                  <a:alpha val="4000"/>
                </a:srgbClr>
              </a:gs>
            </a:gsLst>
            <a:lin ang="5400000" scaled="1"/>
          </a:gradFill>
          <a:ln w="12700">
            <a:solidFill>
              <a:srgbClr val="3B82F6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6667500" y="22098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p/>
        </p:txBody>
      </p:sp>
      <p:pic>
        <p:nvPicPr>
          <p:cNvPr id="2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743700" y="2286000"/>
            <a:ext cx="190500" cy="190500"/>
          </a:xfrm>
          <a:prstGeom prst="rect">
            <a:avLst/>
          </a:prstGeom>
          <a:ln/>
        </p:spPr>
      </p:pic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105650" y="2257425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1F5F9"/>
                </a:solidFill>
                <a:latin typeface="Microsoft YaHei"/>
                <a:ea typeface="Microsoft YaHei"/>
              </a:rPr>
              <a:t>开发侧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667500" y="2724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800850" y="2667000"/>
            <a:ext cx="131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3C5FD"/>
                </a:solidFill>
                <a:latin typeface="Microsoft YaHei"/>
                <a:ea typeface="Microsoft YaHei"/>
              </a:rPr>
              <a:t>后端：</a:t>
            </a:r>
            <a:r>
              <a:rPr lang="en-US" sz="1125">
                <a:solidFill>
                  <a:srgbClr val="93C5FD"/>
                </a:solidFill>
                <a:latin typeface="Microsoft YaHei"/>
                <a:ea typeface="Microsoft YaHei"/>
              </a:rPr>
              <a:t>DB+API+</a:t>
            </a:r>
            <a:r>
              <a:rPr lang="zh-CN" sz="1125">
                <a:solidFill>
                  <a:srgbClr val="93C5FD"/>
                </a:solidFill>
                <a:latin typeface="Microsoft YaHei"/>
                <a:ea typeface="Microsoft YaHei"/>
              </a:rPr>
              <a:t>代码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667500" y="30099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800850" y="2952750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3C5FD"/>
                </a:solidFill>
                <a:latin typeface="Microsoft YaHei"/>
                <a:ea typeface="Microsoft YaHei"/>
              </a:rPr>
              <a:t>前端：组件库</a:t>
            </a:r>
            <a:r>
              <a:rPr lang="en-US" sz="1125">
                <a:solidFill>
                  <a:srgbClr val="93C5FD"/>
                </a:solidFill>
                <a:latin typeface="Microsoft YaHei"/>
                <a:ea typeface="Microsoft YaHei"/>
              </a:rPr>
              <a:t>+</a:t>
            </a:r>
            <a:r>
              <a:rPr lang="zh-CN" sz="1125">
                <a:solidFill>
                  <a:srgbClr val="93C5FD"/>
                </a:solidFill>
                <a:latin typeface="Microsoft YaHei"/>
                <a:ea typeface="Microsoft YaHei"/>
              </a:rPr>
              <a:t>原型→页面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667500" y="3295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800850" y="32385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3C5FD"/>
                </a:solidFill>
                <a:latin typeface="Microsoft YaHei"/>
                <a:ea typeface="Microsoft YaHei"/>
              </a:rPr>
              <a:t>测试：用例→报告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66750" y="4105275"/>
            <a:ext cx="3514725" cy="1752600"/>
          </a:xfrm>
          <a:prstGeom prst="roundRect">
            <a:avLst>
              <a:gd name="adj" fmla="val 7609"/>
            </a:avLst>
          </a:prstGeom>
          <a:solidFill>
            <a:srgbClr val="131C3D"/>
          </a:solidFill>
          <a:ln w="12700">
            <a:solidFill>
              <a:srgbClr val="06B6D4">
                <a:alpha val="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2314575" y="4295775"/>
            <a:ext cx="228600" cy="228600"/>
          </a:xfrm>
          <a:prstGeom prst="rect">
            <a:avLst/>
          </a:prstGeom>
          <a:ln/>
        </p:spPr>
      </p:pic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714500" y="4600575"/>
            <a:ext cx="1038225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06B6D4"/>
                </a:solidFill>
                <a:latin typeface="Microsoft YaHei"/>
                <a:ea typeface="Microsoft YaHei"/>
              </a:rPr>
              <a:t>7×24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2790825" y="4600575"/>
            <a:ext cx="3429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6B6D4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819275" y="5229225"/>
            <a:ext cx="1219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1F5F9"/>
                </a:solidFill>
                <a:latin typeface="Microsoft YaHei"/>
                <a:ea typeface="Microsoft YaHei"/>
              </a:rPr>
              <a:t>Agent </a:t>
            </a: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自主作业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933575" y="551497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无人值守持续迭代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4333875" y="4105275"/>
            <a:ext cx="3524250" cy="1752600"/>
          </a:xfrm>
          <a:prstGeom prst="roundRect">
            <a:avLst>
              <a:gd name="adj" fmla="val 7609"/>
            </a:avLst>
          </a:prstGeom>
          <a:solidFill>
            <a:srgbClr val="131C3D"/>
          </a:solidFill>
          <a:ln w="12700">
            <a:solidFill>
              <a:srgbClr val="3B82F6">
                <a:alpha val="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5981700" y="4295775"/>
            <a:ext cx="228600" cy="228600"/>
          </a:xfrm>
          <a:prstGeom prst="rect">
            <a:avLst/>
          </a:prstGeom>
          <a:ln/>
        </p:spPr>
      </p:pic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5638800" y="4600575"/>
            <a:ext cx="923925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3B82F6"/>
                </a:solidFill>
                <a:latin typeface="Microsoft YaHei"/>
                <a:ea typeface="Microsoft YaHei"/>
              </a:rPr>
              <a:t>85%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495925" y="522922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代码</a:t>
            </a:r>
            <a:r>
              <a:rPr lang="en-US" sz="1350" b="1">
                <a:solidFill>
                  <a:srgbClr val="F1F5F9"/>
                </a:solidFill>
                <a:latin typeface="Microsoft YaHei"/>
                <a:ea typeface="Microsoft YaHei"/>
              </a:rPr>
              <a:t>AI</a:t>
            </a: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生成占比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562600" y="5514975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前后端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+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测试全覆盖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8010525" y="4105275"/>
            <a:ext cx="3514725" cy="1752600"/>
          </a:xfrm>
          <a:prstGeom prst="roundRect">
            <a:avLst>
              <a:gd name="adj" fmla="val 7609"/>
            </a:avLst>
          </a:prstGeom>
          <a:solidFill>
            <a:srgbClr val="131C3D"/>
          </a:solidFill>
          <a:ln w="12700">
            <a:solidFill>
              <a:srgbClr val="8B5CF6">
                <a:alpha val="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9658350" y="4295775"/>
            <a:ext cx="228600" cy="228600"/>
          </a:xfrm>
          <a:prstGeom prst="rect">
            <a:avLst/>
          </a:prstGeom>
          <a:ln/>
        </p:spPr>
      </p:pic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9382125" y="4600575"/>
            <a:ext cx="7810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8B5CF6"/>
                </a:solidFill>
                <a:latin typeface="Microsoft YaHei"/>
                <a:ea typeface="Microsoft YaHei"/>
              </a:rPr>
              <a:t>30+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220200" y="5229225"/>
            <a:ext cx="1095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可复用</a:t>
            </a:r>
            <a:r>
              <a:rPr lang="en-US" sz="1350" b="1">
                <a:solidFill>
                  <a:srgbClr val="F1F5F9"/>
                </a:solidFill>
                <a:latin typeface="Microsoft YaHei"/>
                <a:ea typeface="Microsoft YaHei"/>
              </a:rPr>
              <a:t>AI Skill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9210675" y="551497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马来项目定制化扩展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大赛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开课管理系统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1115675" y="6210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03 / 13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39" name="" descr="&lt;Slide style={{ width: 1280, height: 720, background: '#0A0E27', padding: '50px 70px 40px 70px' }}&gt;&#10;  {/* A区 */}&#10;  &lt;Box style={{ height: 80, borderLeft: '4px solid', borderImage: 'linear-gradient(180deg, #8B5CF6, #3B82F6) 1', paddingLeft: 20, justifyContent: 'center', marginBottom: 15 }}&gt;&#10;    &lt;Text style={{ fontSize: 34, fontWeight: 'bold', color: '#F1F5F9' }}&gt;产品侧 AI 提效&lt;/Text&gt;&#10;    &lt;Text style={{ fontSize: 16, color: '#64748B', marginTop: 2 }}&gt;需求梳理 → 交互原型 → 产品文档 → 用户手册 全链路 AI 赋能&lt;/Text&gt;&#10;  &lt;/Box&gt;&#10;&#10;  {/* B区 非对称双栏 */}&#10;  &lt;Box style={{ flex: 1, flexDirection: 'row', gap: 30 }}&gt;&#10;    {/* 左侧 55% 流程图 */}&#10;    &lt;Box style={{ width: 620, gap: 24, justifyContent: 'center' }}&gt;&#10;      {/* 流程4步骤 */}&#10;      {[&#10;        { step: '01', icon: 'comments', title: '需求梳理', desc: 'AI对话式需求采集，自动结构化输出需求要点与业务规则', color: '#8B5CF6', bg: 'rgba(139,92,246,0.1)' },&#10;        { step: '02', icon: 'object-group', title: '交互原型', desc: '基于需求自动生成HTML可交互原型，实时预览、即时迭代', color: '#3B82F6', bg: 'rgba(59,130,246,0.1)' },&#10;        { step: '03', icon: 'file-alt', title: '产品文档', desc: '自动输出PRD，含功能清单、字段说明、业务规则、状态流转', color: '#06B6D4', bg: 'rgba(6,182,212,0.1)' },&#10;        { step: '04', icon: 'book', title: '用户手册', desc: '自动截图+排版，生成Word/PDF/HTML三版操作手册', color: '#10B981', bg: 'rgba(16,185,129,0.1)' },&#10;      ].map((item, i) =&gt; (&#10;        &lt;Box key={i} style={{ flexDirection: 'row', alignItems: 'center', gap: 18, background: item.bg, borderRadius: 12, padding: '16px 20px', borderLeft: `3px solid ${item.color}` }}&gt;&#10;          &lt;Box style={{ width: 48, height: 48, borderRadius: 12, background: item.bg, justifyContent: 'center', alignItems: 'center', flexShrink: 0 }}&gt;&#10;            &lt;FAIcon name={item.icon} style={{ fill: item.color, width: 24, height: 24 }} /&gt;&#10;          &lt;/Box&gt;&#10;          &lt;Box style={{ flex: 1, gap: 4 }}&gt;&#10;            &lt;Box style={{ flexDirection: 'row', alignItems: 'center', gap: 8 }}&gt;&#10;              &lt;Text style={{ fontSize: 13, fontWeight: 'bold', color: item.color }}&gt;{item.step}&lt;/Text&gt;&#10;              &lt;Text style={{ fontSize: 18, fontWeight: 'bold', color: '#F1F5F9' }}&gt;{item.title}&lt;/Text&gt;&#10;            &lt;/Box&gt;&#10;            &lt;Text style={{ fontSize: 14, color: '#94A3B8', lineHeight: 1.5 }}&gt;{item.desc}&lt;/Text&gt;&#10;          &lt;/Box&gt;&#10;        &lt;/Box&gt;&#10;      ))}&#10;    &lt;/Box&gt;&#10;&#10;    {/* 右侧45% 效果数据 */}&#10;    &lt;Box style={{ flex: 1, gap: 16, justifyContent: 'center' }}&gt;&#10;      &lt;Box style={{ background: 'linear-gradient(135deg, rgba(139,92,246,0.15) 0%, rgba(59,130,246,0.08) 100%)', borderRadius: 16, padding: '28px 24px', border: '1px solid rgba(139,92,246,0.2)', gap: 16, alignItems: 'center' }}&gt;&#10;        &lt;Text style={{ fontSize: 64, fontWeight: 'bold', backgroundImage: 'linear-gradient(135deg, #8B5CF6, #3B82F6)', backgroundClip: 'text', color: 'transparent', lineHeight: 1 }}&gt;3×&lt;/Text&gt;&#10;        &lt;Text style={{ fontSize: 18, fontWeight: 'bold', color: '#F1F5F9', textAlign: 'center' }}&gt;效率提升&lt;/Text&gt;&#10;        &lt;Text style={{ fontSize: 14, color: '#94A3B8', textAlign: 'center', lineHeight: 1.6 }}&gt;产品需求产出周期从 2-3 周缩短至 3-5 天&lt;/Text&gt;&#10;      &lt;/Box&gt;&#10;&#10;      &lt;Box style={{ background: '#131C3D', borderRadius: 14, padding: '20px 24px', gap: 10 }}&gt;&#10;        &lt;Text style={{ fontSize: 16, fontWeight: 'bold', color: '#06B6D4', marginBottom: 4 }}&gt;关键产出物&lt;/Text&gt;&#10;        {['PRD 产品需求文档', '可交互 HTML 原型', '用户操作手册（3 版格式）', '完整业务流程图与FAQ'].map((t, i) =&gt; (&#10;          &lt;Box key={i} style={{ flexDirection: 'row', alignItems: 'center', gap: 8 }}&gt;&#10;            &lt;FAIcon name='check-circle' style={{ fill: '#10B981', width: 16, height: 16 }} /&gt;&#10;            &lt;Text style={{ fontSize: 14, color: '#E2E8F0' }}&gt;{t}&lt;/Text&gt;&#10;          &lt;/Box&gt;&#10;        ))}&#10;      &lt;/Box&gt;&#10;    &lt;/Box&gt;&#10;  &lt;/Box&gt;&#10;&#10;  {/* C区 */}&#10;  &lt;Box style={{ height: 40, flexDirection: 'row', justifyContent: 'space-between', alignItems: 'center', marginTop: 10 }}&gt;&#10;    &lt;Text style={{ fontSize: 14, color: '#64748B' }}&gt;AI大赛 · 开课管理系统&lt;/Text&gt;&#10;    &lt;Text style={{ fontSize: 14, color: '#64748B' }}&gt;04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666750" y="476250"/>
            <a:ext cx="10896600" cy="762000"/>
          </a:xfrm>
          <a:custGeom>
            <a:pathLst>
              <a:path w="1144" h="80">
                <a:moveTo>
                  <a:pt x="0" y="0"/>
                </a:moveTo>
                <a:lnTo>
                  <a:pt x="4" y="0"/>
                </a:lnTo>
                <a:lnTo>
                  <a:pt x="4" y="80"/>
                </a:lnTo>
                <a:lnTo>
                  <a:pt x="0" y="80"/>
                </a:lnTo>
                <a:close/>
              </a:path>
            </a:pathLst>
          </a:custGeom>
          <a:gradFill>
            <a:gsLst>
              <a:gs pos="0">
                <a:srgbClr val="8B5CF6"/>
              </a:gs>
              <a:gs pos="100000">
                <a:srgbClr val="3B82F6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95350" y="561975"/>
            <a:ext cx="10629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产品侧</a:t>
            </a:r>
            <a:r>
              <a:rPr lang="en-US" sz="2550" b="1">
                <a:solidFill>
                  <a:srgbClr val="F1F5F9"/>
                </a:solidFill>
                <a:latin typeface="Microsoft YaHei"/>
                <a:ea typeface="Microsoft YaHei"/>
              </a:rPr>
              <a:t> AI </a:t>
            </a: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提效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95350" y="971550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需求梳理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交互原型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产品文档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用户手册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全链路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赋能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95325" y="1752600"/>
            <a:ext cx="5905500" cy="800100"/>
          </a:xfrm>
          <a:prstGeom prst="roundRect">
            <a:avLst>
              <a:gd name="adj" fmla="val 14286"/>
            </a:avLst>
          </a:prstGeom>
          <a:solidFill>
            <a:srgbClr val="8B5CF6">
              <a:alpha val="10000"/>
            </a:srgbClr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695325" y="1752600"/>
            <a:ext cx="5905500" cy="800100"/>
          </a:xfrm>
          <a:custGeom>
            <a:pathLst>
              <a:path w="620" h="84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75"/>
                </a:lnTo>
                <a:cubicBezTo>
                  <a:pt x="3" y="79"/>
                  <a:pt x="6" y="83"/>
                  <a:pt x="10" y="84"/>
                </a:cubicBezTo>
                <a:cubicBezTo>
                  <a:pt x="4" y="83"/>
                  <a:pt x="0" y="78"/>
                  <a:pt x="0" y="7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885825" y="19240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8B5CF6">
              <a:alpha val="10000"/>
            </a:srgbClr>
          </a:solidFill>
          <a:ln/>
        </p:spPr>
        <p:txBody>
          <a:bodyPr/>
          <a:p/>
        </p:txBody>
      </p:sp>
      <p:pic>
        <p:nvPicPr>
          <p:cNvPr id="2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00125" y="2038350"/>
            <a:ext cx="228600" cy="228600"/>
          </a:xfrm>
          <a:prstGeom prst="rect">
            <a:avLst/>
          </a:prstGeom>
          <a:ln/>
        </p:spPr>
      </p:pic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514475" y="1933575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B5CF6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733550" y="19050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需求梳理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514475" y="2152650"/>
            <a:ext cx="48672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对话式需求采集，自动结构化输出需求要点与业务规则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95325" y="2781300"/>
            <a:ext cx="5905500" cy="800100"/>
          </a:xfrm>
          <a:prstGeom prst="roundRect">
            <a:avLst>
              <a:gd name="adj" fmla="val 14286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695325" y="2781300"/>
            <a:ext cx="5905500" cy="800100"/>
          </a:xfrm>
          <a:custGeom>
            <a:pathLst>
              <a:path w="620" h="84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75"/>
                </a:lnTo>
                <a:cubicBezTo>
                  <a:pt x="3" y="79"/>
                  <a:pt x="6" y="83"/>
                  <a:pt x="10" y="84"/>
                </a:cubicBezTo>
                <a:cubicBezTo>
                  <a:pt x="4" y="83"/>
                  <a:pt x="0" y="78"/>
                  <a:pt x="0" y="7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885825" y="29527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pic>
        <p:nvPicPr>
          <p:cNvPr id="2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00125" y="3067050"/>
            <a:ext cx="228600" cy="228600"/>
          </a:xfrm>
          <a:prstGeom prst="rect">
            <a:avLst/>
          </a:prstGeom>
          <a:ln/>
        </p:spPr>
      </p:pic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514475" y="2962275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B82F6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733550" y="29337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交互原型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514475" y="3181350"/>
            <a:ext cx="48672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基于需求自动生成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HTML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可交互原型，实时预览、即时迭代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95325" y="3810000"/>
            <a:ext cx="5905500" cy="800100"/>
          </a:xfrm>
          <a:prstGeom prst="roundRect">
            <a:avLst>
              <a:gd name="adj" fmla="val 14286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695325" y="3810000"/>
            <a:ext cx="5905500" cy="800100"/>
          </a:xfrm>
          <a:custGeom>
            <a:pathLst>
              <a:path w="620" h="84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75"/>
                </a:lnTo>
                <a:cubicBezTo>
                  <a:pt x="3" y="79"/>
                  <a:pt x="6" y="83"/>
                  <a:pt x="10" y="84"/>
                </a:cubicBezTo>
                <a:cubicBezTo>
                  <a:pt x="4" y="83"/>
                  <a:pt x="0" y="78"/>
                  <a:pt x="0" y="7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885825" y="39814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p/>
        </p:txBody>
      </p:sp>
      <p:pic>
        <p:nvPicPr>
          <p:cNvPr id="2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00125" y="4095750"/>
            <a:ext cx="228600" cy="228600"/>
          </a:xfrm>
          <a:prstGeom prst="rect">
            <a:avLst/>
          </a:prstGeom>
          <a:ln/>
        </p:spPr>
      </p:pic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514475" y="3990975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6B6D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733550" y="39624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产品文档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514475" y="4210050"/>
            <a:ext cx="48672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自动输出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PRD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，含功能清单、字段说明、业务规则、状态流转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95325" y="4838700"/>
            <a:ext cx="5905500" cy="800100"/>
          </a:xfrm>
          <a:prstGeom prst="roundRect">
            <a:avLst>
              <a:gd name="adj" fmla="val 14286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695325" y="4838700"/>
            <a:ext cx="5905500" cy="800100"/>
          </a:xfrm>
          <a:custGeom>
            <a:pathLst>
              <a:path w="620" h="84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75"/>
                </a:lnTo>
                <a:cubicBezTo>
                  <a:pt x="3" y="79"/>
                  <a:pt x="6" y="83"/>
                  <a:pt x="10" y="84"/>
                </a:cubicBezTo>
                <a:cubicBezTo>
                  <a:pt x="4" y="83"/>
                  <a:pt x="0" y="78"/>
                  <a:pt x="0" y="7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885825" y="50101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pic>
        <p:nvPicPr>
          <p:cNvPr id="2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000125" y="5124450"/>
            <a:ext cx="228600" cy="228600"/>
          </a:xfrm>
          <a:prstGeom prst="rect">
            <a:avLst/>
          </a:prstGeom>
          <a:ln/>
        </p:spPr>
      </p:pic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1514475" y="5019675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0B981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733550" y="49911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用户手册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514475" y="5238750"/>
            <a:ext cx="48672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自动截图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+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排版，生成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Word/PDF/HTML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三版操作手册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858000" y="1781175"/>
            <a:ext cx="4667250" cy="2038350"/>
          </a:xfrm>
          <a:prstGeom prst="roundRect">
            <a:avLst>
              <a:gd name="adj" fmla="val 7477"/>
            </a:avLst>
          </a:prstGeom>
          <a:gradFill>
            <a:gsLst>
              <a:gs pos="0">
                <a:srgbClr val="8B5CF6">
                  <a:alpha val="15000"/>
                </a:srgbClr>
              </a:gs>
              <a:gs pos="100000">
                <a:srgbClr val="3B82F6">
                  <a:alpha val="8000"/>
                </a:srgbClr>
              </a:gs>
            </a:gsLst>
            <a:lin ang="2700000" scaled="1"/>
          </a:gradFill>
          <a:ln w="12700">
            <a:solidFill>
              <a:srgbClr val="8B5CF6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848725" y="2047875"/>
            <a:ext cx="6953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gradFill>
                  <a:gsLst>
                    <a:gs pos="0">
                      <a:srgbClr val="8B5CF6"/>
                    </a:gs>
                    <a:gs pos="100000">
                      <a:srgbClr val="3B82F6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3×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848725" y="2933700"/>
            <a:ext cx="68580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效率提升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991475" y="3295650"/>
            <a:ext cx="240982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产品需求产出周期从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2-3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周缩短至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3-5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858000" y="3971925"/>
            <a:ext cx="4667250" cy="1638300"/>
          </a:xfrm>
          <a:prstGeom prst="roundRect">
            <a:avLst>
              <a:gd name="adj" fmla="val 8140"/>
            </a:avLst>
          </a:prstGeom>
          <a:solidFill>
            <a:srgbClr val="131C3D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086600" y="4162425"/>
            <a:ext cx="4210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6B6D4"/>
                </a:solidFill>
                <a:latin typeface="Microsoft YaHei"/>
                <a:ea typeface="Microsoft YaHei"/>
              </a:rPr>
              <a:t>关键产出物</a:t>
            </a:r>
            <a:endParaRPr/>
          </a:p>
        </p:txBody>
      </p:sp>
      <p:pic>
        <p:nvPicPr>
          <p:cNvPr id="2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086600" y="4495800"/>
            <a:ext cx="152400" cy="152400"/>
          </a:xfrm>
          <a:prstGeom prst="rect">
            <a:avLst/>
          </a:prstGeom>
          <a:ln/>
        </p:spPr>
      </p:pic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315200" y="448627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>PRD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产品需求文档</a:t>
            </a:r>
            <a:endParaRPr/>
          </a:p>
        </p:txBody>
      </p:sp>
      <p:pic>
        <p:nvPicPr>
          <p:cNvPr id="2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086600" y="4752975"/>
            <a:ext cx="152400" cy="152400"/>
          </a:xfrm>
          <a:prstGeom prst="rect">
            <a:avLst/>
          </a:prstGeom>
          <a:ln/>
        </p:spPr>
      </p:pic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315200" y="4743450"/>
            <a:ext cx="110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可交互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> HTML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原型</a:t>
            </a:r>
            <a:endParaRPr/>
          </a:p>
        </p:txBody>
      </p:sp>
      <p:pic>
        <p:nvPicPr>
          <p:cNvPr id="2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086600" y="5010150"/>
            <a:ext cx="152400" cy="152400"/>
          </a:xfrm>
          <a:prstGeom prst="rect">
            <a:avLst/>
          </a:prstGeom>
          <a:ln/>
        </p:spPr>
      </p:pic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315200" y="5000625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用户操作手册（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>3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版格式）</a:t>
            </a:r>
            <a:endParaRPr/>
          </a:p>
        </p:txBody>
      </p:sp>
      <p:pic>
        <p:nvPicPr>
          <p:cNvPr id="2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086600" y="5267325"/>
            <a:ext cx="152400" cy="152400"/>
          </a:xfrm>
          <a:prstGeom prst="rect">
            <a:avLst/>
          </a:prstGeom>
          <a:ln/>
        </p:spPr>
      </p:pic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315200" y="5257800"/>
            <a:ext cx="1343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完整业务流程图与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>FAQ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大赛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开课管理系统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1115675" y="6210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04 / 13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88" name="" descr="&lt;Slide style={{ width: 1280, height: 720, background: '#0A0E27', padding: '50px 70px 40px 70px' }}&gt;&#10;  {/* A区 */}&#10;  &lt;Box style={{ height: 80, borderLeft: '4px solid', borderImage: 'linear-gradient(180deg, #3B82F6, #06B6D4) 1', paddingLeft: 20, justifyContent: 'center', marginBottom: 15 }}&gt;&#10;    &lt;Text style={{ fontSize: 34, fontWeight: 'bold', color: '#F1F5F9' }}&gt;开发侧 AI 提效&lt;/Text&gt;&#10;    &lt;Text style={{ fontSize: 16, color: '#64748B', marginTop: 2 }}&gt;AI Agent 7×24 自主完成数据库设计、接口开发、前端页面与测试&lt;/Text&gt;&#10;  &lt;/Box&gt;&#10;&#10;  {/* B区 — 大数字冲击 */}&#10;  &lt;Box style={{ flex: 1, flexDirection: 'row', gap: 24 }}&gt;&#10;    {/* 左侧：大数字 85% */}&#10;    &lt;Box style={{ width: 340, justifyContent: 'center', alignItems: 'center', background: 'linear-gradient(180deg, rgba(59,130,246,0.1) 0%, rgba(6,182,212,0.05) 100%)', borderRadius: 20, border: '1px solid rgba(59,130,246,0.2)', padding: 30, gap: 20 }}&gt;&#10;      &lt;Text style={{ fontSize: 120, fontWeight: 'bold', backgroundImage: 'linear-gradient(180deg, #06B6D4 0%, #3B82F6 100%)', backgroundClip: 'text', color: 'transparent', lineHeight: 1 }}&gt;85%&lt;/Text&gt;&#10;      &lt;Text style={{ fontSize: 20, fontWeight: 'bold', color: '#F1F5F9', textAlign: 'center' }}&gt;代码由 AI 生成&lt;/Text&gt;&#10;      &lt;Box style={{ width: 60, height: 2, background: '#06B6D4', borderRadius: 1 }} /&gt;&#10;      &lt;Text style={{ fontSize: 14, color: '#94A3B8', textAlign: 'center', lineHeight: 1.5 }}&gt;后端接口、前端组件、&lt;br /&gt;测试用例全链路覆盖&lt;/Text&gt;&#10;    &lt;/Box&gt;&#10;&#10;    {/* 右侧：三栏提效流程 */}&#10;    &lt;Box style={{ flex: 1, gap: 14 }}&gt;&#10;      {[&#10;        { icon: 'database', title: '后端开发', steps: ['需求文档+原型 → AI拆解任务', 'AI生成数据库表结构设计', 'AI完成全部接口功能代码', '数据权限 / 登录校验 / 操作日志'], color: '#3B82F6', num: '01' },&#10;        { icon: 'desktop', title: '前端开发', steps: ['可交互原型 → AI理解布局', '基于组件库生成正式页面', 'AI适配多端响应式布局', '三语（中/英/马来）国际化'], color: '#8B5CF6', num: '02' },&#10;        { icon: 'vial', title: '测试验证', steps: ['AI根据功能点生成测试用例', '提交AI执行自动化测试', 'AI输出完整测试报告', 'Bug自动定位与修复建议'], color: '#10B981', num: '03' },&#10;      ].map((section, si) =&gt; (&#10;        &lt;Box key={si} style={{ flex: 1, background: '#131C3D', borderRadius: 12, padding: '14px 20px', flexDirection: 'row', gap: 16, borderLeft: `3px solid ${section.color}` }}&gt;&#10;          &lt;Box style={{ alignItems: 'center', gap: 6, minWidth: 44 }}&gt;&#10;            &lt;Box style={{ width: 40, height: 40, borderRadius: 10, background: `rgba(${si === 0 ? '59,130,246' : si === 1 ? '139,92,246' : '16,185,129'},0.15)`, justifyContent: 'center', alignItems: 'center' }}&gt;&#10;              &lt;FAIcon name={section.icon} style={{ fill: section.color, width: 20, height: 20 }} /&gt;&#10;            &lt;/Box&gt;&#10;            &lt;Text style={{ fontSize: 11, color: section.color, fontWeight: 'bold' }}&gt;{section.num}&lt;/Text&gt;&#10;          &lt;/Box&gt;&#10;          &lt;Box style={{ flex: 1, gap: 4, justifyContent: 'center' }}&gt;&#10;            &lt;Text style={{ fontSize: 17, fontWeight: 'bold', color: '#F1F5F9' }}&gt;{section.title}&lt;/Text&gt;&#10;            {section.steps.map((s, i) =&gt; (&#10;              &lt;Box key={i} style={{ flexDirection: 'row', alignItems: 'center', gap: 6 }}&gt;&#10;                &lt;Box style={{ width: 4, height: 4, borderRadius: 2, background: section.color }} /&gt;&#10;                &lt;Text style={{ fontSize: 12, color: '#CBD5E1' }}&gt;{s}&lt;/Text&gt;&#10;              &lt;/Box&gt;&#10;            ))}&#10;          &lt;/Box&gt;&#10;        &lt;/Box&gt;&#10;      ))}&#10;    &lt;/Box&gt;&#10;  &lt;/Box&gt;&#10;&#10;  {/* C区 */}&#10;  &lt;Box style={{ height: 40, flexDirection: 'row', justifyContent: 'space-between', alignItems: 'center', marginTop: 10 }}&gt;&#10;    &lt;Text style={{ fontSize: 14, color: '#64748B' }}&gt;AI大赛 · 开课管理系统&lt;/Text&gt;&#10;    &lt;Text style={{ fontSize: 14, color: '#64748B' }}&gt;05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666750" y="476250"/>
            <a:ext cx="10896600" cy="762000"/>
          </a:xfrm>
          <a:custGeom>
            <a:pathLst>
              <a:path w="1144" h="80">
                <a:moveTo>
                  <a:pt x="0" y="0"/>
                </a:moveTo>
                <a:lnTo>
                  <a:pt x="4" y="0"/>
                </a:lnTo>
                <a:lnTo>
                  <a:pt x="4" y="80"/>
                </a:lnTo>
                <a:lnTo>
                  <a:pt x="0" y="8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95350" y="561975"/>
            <a:ext cx="10629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开发侧</a:t>
            </a:r>
            <a:r>
              <a:rPr lang="en-US" sz="2550" b="1">
                <a:solidFill>
                  <a:srgbClr val="F1F5F9"/>
                </a:solidFill>
                <a:latin typeface="Microsoft YaHei"/>
                <a:ea typeface="Microsoft YaHei"/>
              </a:rPr>
              <a:t> AI </a:t>
            </a: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提效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95350" y="971550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AI Agent 7×24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自主完成数据库设计、接口开发、前端页面与测试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66750" y="1381125"/>
            <a:ext cx="3238500" cy="4619625"/>
          </a:xfrm>
          <a:prstGeom prst="roundRect">
            <a:avLst>
              <a:gd name="adj" fmla="val 5882"/>
            </a:avLst>
          </a:prstGeom>
          <a:gradFill>
            <a:gsLst>
              <a:gs pos="0">
                <a:srgbClr val="3B82F6">
                  <a:alpha val="10000"/>
                </a:srgbClr>
              </a:gs>
              <a:gs pos="100000">
                <a:srgbClr val="06B6D4">
                  <a:alpha val="5000"/>
                </a:srgbClr>
              </a:gs>
            </a:gsLst>
            <a:lin ang="5400000" scaled="1"/>
          </a:gra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143000" y="2352675"/>
            <a:ext cx="22955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gradFill>
                  <a:gsLst>
                    <a:gs pos="0">
                      <a:srgbClr val="06B6D4"/>
                    </a:gs>
                    <a:gs pos="100000">
                      <a:srgbClr val="3B82F6"/>
                    </a:gs>
                  </a:gsLst>
                  <a:lin ang="5400000" scaled="1"/>
                </a:gradFill>
                <a:latin typeface="Microsoft YaHei"/>
                <a:ea typeface="Microsoft YaHei"/>
              </a:rPr>
              <a:t>85%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657350" y="3914775"/>
            <a:ext cx="12573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F1F5F9"/>
                </a:solidFill>
                <a:latin typeface="Microsoft YaHei"/>
                <a:ea typeface="Microsoft YaHei"/>
              </a:rPr>
              <a:t>代码由</a:t>
            </a:r>
            <a:r>
              <a:rPr lang="en-US" sz="1500" b="1">
                <a:solidFill>
                  <a:srgbClr val="F1F5F9"/>
                </a:solidFill>
                <a:latin typeface="Microsoft YaHei"/>
                <a:ea typeface="Microsoft YaHei"/>
              </a:rPr>
              <a:t> AI </a:t>
            </a:r>
            <a:r>
              <a:rPr lang="zh-CN" sz="1500" b="1">
                <a:solidFill>
                  <a:srgbClr val="F1F5F9"/>
                </a:solidFill>
                <a:latin typeface="Microsoft YaHei"/>
                <a:ea typeface="Microsoft YaHei"/>
              </a:rPr>
              <a:t>生成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2000250" y="4333875"/>
            <a:ext cx="571500" cy="190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619250" y="4543425"/>
            <a:ext cx="1333500" cy="4857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后端接口、前端组件、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测试用例全链路覆盖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4162425" y="1381125"/>
            <a:ext cx="7391400" cy="1447800"/>
          </a:xfrm>
          <a:prstGeom prst="roundRect">
            <a:avLst>
              <a:gd name="adj" fmla="val 7895"/>
            </a:avLst>
          </a:prstGeom>
          <a:solidFill>
            <a:srgbClr val="131C3D"/>
          </a:solidFill>
          <a:ln/>
        </p:spPr>
        <p:txBody>
          <a:bodyPr/>
          <a:p/>
        </p:txBody>
      </p:sp>
      <p:sp>
        <p:nvSpPr>
          <p:cNvPr id="299" name=""/>
          <p:cNvSpPr/>
          <p:nvPr/>
        </p:nvSpPr>
        <p:spPr>
          <a:xfrm rot="0" flipH="0" flipV="0">
            <a:off x="4162425" y="1381125"/>
            <a:ext cx="7391400" cy="1447800"/>
          </a:xfrm>
          <a:custGeom>
            <a:pathLst>
              <a:path w="776" h="152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143"/>
                </a:lnTo>
                <a:cubicBezTo>
                  <a:pt x="3" y="147"/>
                  <a:pt x="6" y="151"/>
                  <a:pt x="10" y="152"/>
                </a:cubicBezTo>
                <a:cubicBezTo>
                  <a:pt x="4" y="151"/>
                  <a:pt x="0" y="146"/>
                  <a:pt x="0" y="14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4371975" y="15144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pic>
        <p:nvPicPr>
          <p:cNvPr id="3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467225" y="1609725"/>
            <a:ext cx="190500" cy="190500"/>
          </a:xfrm>
          <a:prstGeom prst="rect">
            <a:avLst/>
          </a:prstGeom>
          <a:ln/>
        </p:spPr>
      </p:pic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505325" y="1952625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3B82F6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924425" y="1647825"/>
            <a:ext cx="6410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1F5F9"/>
                </a:solidFill>
                <a:latin typeface="Microsoft YaHei"/>
                <a:ea typeface="Microsoft YaHei"/>
              </a:rPr>
              <a:t>后端开发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4924425" y="1943100"/>
            <a:ext cx="381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019675" y="1885950"/>
            <a:ext cx="1504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需求文档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+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原型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→ AI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拆解任务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4924425" y="2124075"/>
            <a:ext cx="381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5019675" y="2066925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AI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生成数据库表结构设计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4924425" y="23050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5019675" y="2247900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AI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完成全部接口功能代码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4924425" y="2486025"/>
            <a:ext cx="381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5019675" y="2428875"/>
            <a:ext cx="1571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数据权限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登录校验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操作日志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4162425" y="2962275"/>
            <a:ext cx="7391400" cy="1457325"/>
          </a:xfrm>
          <a:prstGeom prst="roundRect">
            <a:avLst>
              <a:gd name="adj" fmla="val 7843"/>
            </a:avLst>
          </a:prstGeom>
          <a:solidFill>
            <a:srgbClr val="131C3D"/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4162425" y="2962275"/>
            <a:ext cx="7391400" cy="1457325"/>
          </a:xfrm>
          <a:custGeom>
            <a:pathLst>
              <a:path w="776" h="153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144"/>
                </a:lnTo>
                <a:cubicBezTo>
                  <a:pt x="3" y="148"/>
                  <a:pt x="6" y="152"/>
                  <a:pt x="10" y="153"/>
                </a:cubicBezTo>
                <a:cubicBezTo>
                  <a:pt x="4" y="152"/>
                  <a:pt x="0" y="147"/>
                  <a:pt x="0" y="141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4371975" y="30956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p/>
        </p:txBody>
      </p:sp>
      <p:pic>
        <p:nvPicPr>
          <p:cNvPr id="3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67225" y="3190875"/>
            <a:ext cx="190500" cy="190500"/>
          </a:xfrm>
          <a:prstGeom prst="rect">
            <a:avLst/>
          </a:prstGeom>
          <a:ln/>
        </p:spPr>
      </p:pic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505325" y="3533775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8B5CF6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924425" y="3228975"/>
            <a:ext cx="6410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1F5F9"/>
                </a:solidFill>
                <a:latin typeface="Microsoft YaHei"/>
                <a:ea typeface="Microsoft YaHei"/>
              </a:rPr>
              <a:t>前端开发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4924425" y="35242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5019675" y="3467100"/>
            <a:ext cx="132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可交互原型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→ AI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理解布局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4924425" y="3705225"/>
            <a:ext cx="38100" cy="381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5019675" y="3648075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基于组件库生成正式页面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4924425" y="3886200"/>
            <a:ext cx="38100" cy="381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019675" y="3829050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AI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适配多端响应式布局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4924425" y="4067175"/>
            <a:ext cx="38100" cy="381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019675" y="4010025"/>
            <a:ext cx="132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三语（中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英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马来）国际化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4162425" y="4552950"/>
            <a:ext cx="7391400" cy="1447800"/>
          </a:xfrm>
          <a:prstGeom prst="roundRect">
            <a:avLst>
              <a:gd name="adj" fmla="val 7895"/>
            </a:avLst>
          </a:prstGeom>
          <a:solidFill>
            <a:srgbClr val="131C3D"/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4162425" y="4552950"/>
            <a:ext cx="7391400" cy="1447800"/>
          </a:xfrm>
          <a:custGeom>
            <a:pathLst>
              <a:path w="776" h="152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143"/>
                </a:lnTo>
                <a:cubicBezTo>
                  <a:pt x="3" y="147"/>
                  <a:pt x="6" y="151"/>
                  <a:pt x="10" y="152"/>
                </a:cubicBezTo>
                <a:cubicBezTo>
                  <a:pt x="4" y="151"/>
                  <a:pt x="0" y="146"/>
                  <a:pt x="0" y="14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4371975" y="46863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pic>
        <p:nvPicPr>
          <p:cNvPr id="3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467225" y="4781550"/>
            <a:ext cx="190500" cy="190500"/>
          </a:xfrm>
          <a:prstGeom prst="rect">
            <a:avLst/>
          </a:prstGeom>
          <a:ln/>
        </p:spPr>
      </p:pic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505325" y="5124450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0B981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924425" y="4819650"/>
            <a:ext cx="6410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1F5F9"/>
                </a:solidFill>
                <a:latin typeface="Microsoft YaHei"/>
                <a:ea typeface="Microsoft YaHei"/>
              </a:rPr>
              <a:t>测试验证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4924425" y="5114925"/>
            <a:ext cx="381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5019675" y="5057775"/>
            <a:ext cx="1371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AI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根据功能点生成测试用例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4924425" y="5295900"/>
            <a:ext cx="381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019675" y="5238750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提交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AI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执行自动化测试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4924425" y="5476875"/>
            <a:ext cx="381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019675" y="541972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AI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输出完整测试报告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4924425" y="56578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5019675" y="5600700"/>
            <a:ext cx="123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Bug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自动定位与修复建议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大赛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开课管理系统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11115675" y="6210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05 / 13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42" name="" descr="&lt;Slide style={{ width: 1280, height: 720, background: '#0A0E27', padding: '50px 70px 40px 70px' }}&gt;&#10;  {/* A区 */}&#10;  &lt;Box style={{ height: 80, borderLeft: '4px solid', borderImage: 'linear-gradient(180deg, #3B82F6, #06B6D4) 1', paddingLeft: 20, justifyContent: 'center', marginBottom: 15 }}&gt;&#10;    &lt;Text style={{ fontSize: 34, fontWeight: 'bold', color: '#F1F5F9' }}&gt;后端开发 — AI 全栈交付&lt;/Text&gt;&#10;    &lt;Text style={{ fontSize: 16, color: '#64748B', marginTop: 2 }}&gt;基于PRD与交互原型拆解任务 → AI生成数据库设计、接口功能、全部实现代码&lt;/Text&gt;&#10;  &lt;/Box&gt;&#10;&#10;  {/* B区 */}&#10;  &lt;Box style={{ flex: 1, flexDirection: 'row', gap: 24 }}&gt;&#10;    {/* 左 30% — 标题栏 */}&#10;    &lt;Box style={{ width: 300, gap: 16, justifyContent: 'center' }}&gt;&#10;      &lt;Box style={{ background: 'linear-gradient(180deg, rgba(59,130,246,0.15) 0%, transparent 100%)', borderRadius: 14, padding: 24, border: '1px solid rgba(59,130,246,0.2)', gap: 14 }}&gt;&#10;        &lt;FAIcon name='server' style={{ fill: '#3B82F6', width: 36, height: 36 }} /&gt;&#10;        &lt;Text style={{ fontSize: 22, fontWeight: 'bold', color: '#F1F5F9' }}&gt;AI 自动生成清单&lt;/Text&gt;&#10;        &lt;Box style={{ width: 40, height: 2, background: '#3B82F6' }} /&gt;&#10;        {['MySQL 数据库表结构', 'RESTful API 接口', '业务逻辑代码', '数据权限中间件', '登录校验 &amp; JWT', '操作日志记录', '三语国际化适配'].map((t, i) =&gt; (&#10;          &lt;Box key={i} style={{ flexDirection: 'row', alignItems: 'center', gap: 8 }}&gt;&#10;            &lt;FAIcon name='check-circle' style={{ fill: '#10B981', width: 14, height: 14 }} /&gt;&#10;            &lt;Text style={{ fontSize: 14, color: '#E2E8F0' }}&gt;{t}&lt;/Text&gt;&#10;          &lt;/Box&gt;&#10;        ))}&#10;      &lt;/Box&gt;&#10;    &lt;/Box&gt;&#10;&#10;    {/* 右70% — 流程+定制skill */}&#10;    &lt;Box style={{ flex: 1, gap: 14 }}&gt;&#10;      {/* 工作流程 */}&#10;      &lt;Box style={{ background: '#131C3D', borderRadius: 14, padding: '20px 24px', gap: 14 }}&gt;&#10;        &lt;Text style={{ fontSize: 18, fontWeight: 'bold', color: '#3B82F6' }}&gt;AI 开发工作流&lt;/Text&gt;&#10;        &lt;Box style={{ flexDirection: 'row', gap: 12, alignItems: 'center' }}&gt;&#10;          {['需求文档\n输入', '任务\n拆解', '数据库\n设计', '接口\n生成', '代码\n联调', '部署\n交付'].map((label, i) =&gt; (&#10;            &lt;Box key={i} style={{ flex: 1, alignItems: 'center', gap: 4 }}&gt;&#10;              &lt;Box style={{ width: 52, height: 52, borderRadius: 26, background: i === 5 ? 'rgba(16,185,129,0.15)' : 'rgba(59,130,246,0.12)', justifyContent: 'center', alignItems: 'center', border: `2px solid ${i === 5 ? '#10B981' : '#3B82F6'}40` }}&gt;&#10;                &lt;Text style={{ fontSize: 14, fontWeight: 'bold', color: i === 5 ? '#10B981' : '#3B82F6' }}&gt;0{i+1}&lt;/Text&gt;&#10;              &lt;/Box&gt;&#10;              &lt;Text style={{ fontSize: 10, color: '#94A3B8', textAlign: 'center', whiteSpace: 'pre-line' }}&gt;{label}&lt;/Text&gt;&#10;            &lt;/Box&gt;&#10;          ))}&#10;        &lt;/Box&gt;&#10;      &lt;/Box&gt;&#10;&#10;      {/* 定制化Skill */}&#10;      &lt;Box style={{ background: 'linear-gradient(135deg, rgba(139,92,246,0.1) 0%, rgba(59,130,246,0.05) 100%)', borderRadius: 14, padding: '20px 24px', border: '1px solid rgba(139,92,246,0.2)', gap: 12 }}&gt;&#10;        &lt;Box style={{ flexDirection: 'row', alignItems: 'center', gap: 10 }}&gt;&#10;          &lt;FAIcon name='puzzle-piece' style={{ fill: '#8B5CF6', width: 20, height: 20 }} /&gt;&#10;          &lt;Text style={{ fontSize: 18, fontWeight: 'bold', color: '#8B5CF6' }}&gt;马来项目定制 Skill&lt;/Text&gt;&#10;        &lt;/Box&gt;&#10;        &lt;Box style={{ flexDirection: 'row', gap: 14 }}&gt;&#10;          {[&#10;            { label: '三语转换', desc: '中/英/马来自动互译' },&#10;            { label: '数据权限', desc: '多角色RBAC控制' },&#10;            { label: '登录校验', desc: 'JWT+统一鉴权' },&#10;            { label: '操作日志', desc: '全链路行为追踪' },&#10;          ].map((item, i) =&gt; (&#10;            &lt;Box key={i} style={{ flex: 1, background: 'rgba(139,92,246,0.08)', borderRadius: 10, padding: '12px 14px', alignItems: 'center', gap: 6 }}&gt;&#10;              &lt;Text style={{ fontSize: 14, fontWeight: 'bold', color: '#C4B5FD' }}&gt;{item.label}&lt;/Text&gt;&#10;              &lt;Text style={{ fontSize: 11, color: '#94A3B8', textAlign: 'center' }}&gt;{item.desc}&lt;/Text&gt;&#10;            &lt;/Box&gt;&#10;          ))}&#10;        &lt;/Box&gt;&#10;      &lt;/Box&gt;&#10;    &lt;/Box&gt;&#10;  &lt;/Box&gt;&#10;&#10;  {/* C区 */}&#10;  &lt;Box style={{ height: 40, flexDirection: 'row', justifyContent: 'space-between', alignItems: 'center', marginTop: 10 }}&gt;&#10;    &lt;Text style={{ fontSize: 14, color: '#64748B' }}&gt;AI大赛 · 开课管理系统&lt;/Text&gt;&#10;    &lt;Text style={{ fontSize: 14, color: '#64748B' }}&gt;06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p/>
        </p:txBody>
      </p:sp>
      <p:sp>
        <p:nvSpPr>
          <p:cNvPr id="344" name=""/>
          <p:cNvSpPr/>
          <p:nvPr/>
        </p:nvSpPr>
        <p:spPr>
          <a:xfrm rot="0" flipH="0" flipV="0">
            <a:off x="666750" y="476250"/>
            <a:ext cx="10896600" cy="762000"/>
          </a:xfrm>
          <a:custGeom>
            <a:pathLst>
              <a:path w="1144" h="80">
                <a:moveTo>
                  <a:pt x="0" y="0"/>
                </a:moveTo>
                <a:lnTo>
                  <a:pt x="4" y="0"/>
                </a:lnTo>
                <a:lnTo>
                  <a:pt x="4" y="80"/>
                </a:lnTo>
                <a:lnTo>
                  <a:pt x="0" y="8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895350" y="561975"/>
            <a:ext cx="10629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后端开发</a:t>
            </a:r>
            <a:r>
              <a:rPr lang="en-US" sz="2550" b="1">
                <a:solidFill>
                  <a:srgbClr val="F1F5F9"/>
                </a:solidFill>
                <a:latin typeface="Microsoft YaHei"/>
                <a:ea typeface="Microsoft YaHei"/>
              </a:rPr>
              <a:t> — AI </a:t>
            </a: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全栈交付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95350" y="971550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基于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PRD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与交互原型拆解任务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→ AI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生成数据库设计、接口功能、全部实现代码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666750" y="1990725"/>
            <a:ext cx="2857500" cy="3409950"/>
          </a:xfrm>
          <a:prstGeom prst="roundRect">
            <a:avLst>
              <a:gd name="adj" fmla="val 4667"/>
            </a:avLst>
          </a:prstGeom>
          <a:gradFill>
            <a:gsLst>
              <a:gs pos="0">
                <a:srgbClr val="3B82F6">
                  <a:alpha val="15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2219325"/>
            <a:ext cx="342900" cy="342900"/>
          </a:xfrm>
          <a:prstGeom prst="rect">
            <a:avLst/>
          </a:prstGeom>
          <a:ln/>
        </p:spPr>
      </p:pic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895350" y="2695575"/>
            <a:ext cx="240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1F5F9"/>
                </a:solidFill>
                <a:latin typeface="Microsoft YaHei"/>
                <a:ea typeface="Microsoft YaHei"/>
              </a:rPr>
              <a:t>AI </a:t>
            </a:r>
            <a:r>
              <a:rPr lang="zh-CN" sz="1650" b="1">
                <a:solidFill>
                  <a:srgbClr val="F1F5F9"/>
                </a:solidFill>
                <a:latin typeface="Microsoft YaHei"/>
                <a:ea typeface="Microsoft YaHei"/>
              </a:rPr>
              <a:t>自动生成清单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895350" y="3086100"/>
            <a:ext cx="381000" cy="190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3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95350" y="3257550"/>
            <a:ext cx="133350" cy="133350"/>
          </a:xfrm>
          <a:prstGeom prst="rect">
            <a:avLst/>
          </a:prstGeom>
          <a:ln/>
        </p:spPr>
      </p:pic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1104900" y="32385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>MySQL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数据库表结构</a:t>
            </a:r>
            <a:endParaRPr/>
          </a:p>
        </p:txBody>
      </p:sp>
      <p:pic>
        <p:nvPicPr>
          <p:cNvPr id="3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95350" y="3552825"/>
            <a:ext cx="133350" cy="133350"/>
          </a:xfrm>
          <a:prstGeom prst="rect">
            <a:avLst/>
          </a:prstGeom>
          <a:ln/>
        </p:spPr>
      </p:pic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104900" y="3533775"/>
            <a:ext cx="105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>RESTful API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接口</a:t>
            </a:r>
            <a:endParaRPr/>
          </a:p>
        </p:txBody>
      </p:sp>
      <p:pic>
        <p:nvPicPr>
          <p:cNvPr id="3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95350" y="3848100"/>
            <a:ext cx="133350" cy="133350"/>
          </a:xfrm>
          <a:prstGeom prst="rect">
            <a:avLst/>
          </a:prstGeom>
          <a:ln/>
        </p:spPr>
      </p:pic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104900" y="38290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业务逻辑代码</a:t>
            </a:r>
            <a:endParaRPr/>
          </a:p>
        </p:txBody>
      </p:sp>
      <p:pic>
        <p:nvPicPr>
          <p:cNvPr id="3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95350" y="4143375"/>
            <a:ext cx="133350" cy="133350"/>
          </a:xfrm>
          <a:prstGeom prst="rect">
            <a:avLst/>
          </a:prstGeom>
          <a:ln/>
        </p:spPr>
      </p:pic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104900" y="41243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数据权限中间件</a:t>
            </a:r>
            <a:endParaRPr/>
          </a:p>
        </p:txBody>
      </p:sp>
      <p:pic>
        <p:nvPicPr>
          <p:cNvPr id="3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95350" y="4438650"/>
            <a:ext cx="133350" cy="133350"/>
          </a:xfrm>
          <a:prstGeom prst="rect">
            <a:avLst/>
          </a:prstGeom>
          <a:ln/>
        </p:spPr>
      </p:pic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104900" y="4419600"/>
            <a:ext cx="971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登录校验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> &amp; JWT</a:t>
            </a:r>
            <a:endParaRPr/>
          </a:p>
        </p:txBody>
      </p:sp>
      <p:pic>
        <p:nvPicPr>
          <p:cNvPr id="3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95350" y="4733925"/>
            <a:ext cx="133350" cy="133350"/>
          </a:xfrm>
          <a:prstGeom prst="rect">
            <a:avLst/>
          </a:prstGeom>
          <a:ln/>
        </p:spPr>
      </p:pic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1104900" y="47148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操作日志记录</a:t>
            </a:r>
            <a:endParaRPr/>
          </a:p>
        </p:txBody>
      </p:sp>
      <p:pic>
        <p:nvPicPr>
          <p:cNvPr id="3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95350" y="5029200"/>
            <a:ext cx="133350" cy="133350"/>
          </a:xfrm>
          <a:prstGeom prst="rect">
            <a:avLst/>
          </a:prstGeom>
          <a:ln/>
        </p:spPr>
      </p:pic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104900" y="501015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三语国际化适配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3752850" y="1381125"/>
            <a:ext cx="7772400" cy="1485900"/>
          </a:xfrm>
          <a:prstGeom prst="roundRect">
            <a:avLst>
              <a:gd name="adj" fmla="val 8974"/>
            </a:avLst>
          </a:prstGeom>
          <a:solidFill>
            <a:srgbClr val="131C3D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3981450" y="1571625"/>
            <a:ext cx="731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B82F6"/>
                </a:solidFill>
                <a:latin typeface="Microsoft YaHei"/>
                <a:ea typeface="Microsoft YaHei"/>
              </a:rPr>
              <a:t>AI </a:t>
            </a: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开发工作流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4295775" y="19145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>
                <a:alpha val="25098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4467225" y="20859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Microsoft YaHei"/>
                <a:ea typeface="Microsoft YaHei"/>
              </a:rPr>
              <a:t>0</a:t>
            </a:r>
            <a:r>
              <a:rPr lang="en-US" sz="1050" b="1">
                <a:solidFill>
                  <a:srgbClr val="3B82F6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4352925" y="2447925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94A3B8"/>
                </a:solidFill>
                <a:latin typeface="Microsoft YaHei"/>
                <a:ea typeface="Microsoft YaHei"/>
              </a:rPr>
              <a:t>需求文档
输入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5534025" y="19145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>
                <a:alpha val="25098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5705475" y="20859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Microsoft YaHei"/>
                <a:ea typeface="Microsoft YaHei"/>
              </a:rPr>
              <a:t>0</a:t>
            </a:r>
            <a:r>
              <a:rPr lang="en-US" sz="1050" b="1">
                <a:solidFill>
                  <a:srgbClr val="3B82F6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686425" y="2447925"/>
            <a:ext cx="1905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94A3B8"/>
                </a:solidFill>
                <a:latin typeface="Microsoft YaHei"/>
                <a:ea typeface="Microsoft YaHei"/>
              </a:rPr>
              <a:t>任务
拆解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6772275" y="19145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>
                <a:alpha val="25098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943725" y="20859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Microsoft YaHei"/>
                <a:ea typeface="Microsoft YaHei"/>
              </a:rPr>
              <a:t>0</a:t>
            </a:r>
            <a:r>
              <a:rPr lang="en-US" sz="1050" b="1">
                <a:solidFill>
                  <a:srgbClr val="3B82F6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877050" y="2447925"/>
            <a:ext cx="2857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94A3B8"/>
                </a:solidFill>
                <a:latin typeface="Microsoft YaHei"/>
                <a:ea typeface="Microsoft YaHei"/>
              </a:rPr>
              <a:t>数据库
设计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8010525" y="19145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>
                <a:alpha val="25098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181975" y="20859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Microsoft YaHei"/>
                <a:ea typeface="Microsoft YaHei"/>
              </a:rPr>
              <a:t>0</a:t>
            </a:r>
            <a:r>
              <a:rPr lang="en-US" sz="1050" b="1">
                <a:solidFill>
                  <a:srgbClr val="3B82F6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162925" y="2447925"/>
            <a:ext cx="1905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94A3B8"/>
                </a:solidFill>
                <a:latin typeface="Microsoft YaHei"/>
                <a:ea typeface="Microsoft YaHei"/>
              </a:rPr>
              <a:t>接口
生成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9248775" y="19145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>
                <a:alpha val="25098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9420225" y="20859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Microsoft YaHei"/>
                <a:ea typeface="Microsoft YaHei"/>
              </a:rPr>
              <a:t>0</a:t>
            </a:r>
            <a:r>
              <a:rPr lang="en-US" sz="1050" b="1">
                <a:solidFill>
                  <a:srgbClr val="3B82F6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9401175" y="2447925"/>
            <a:ext cx="1905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94A3B8"/>
                </a:solidFill>
                <a:latin typeface="Microsoft YaHei"/>
                <a:ea typeface="Microsoft YaHei"/>
              </a:rPr>
              <a:t>代码
联调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10487025" y="19145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25400">
            <a:solidFill>
              <a:srgbClr val="10B981">
                <a:alpha val="25098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0658475" y="20859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0B981"/>
                </a:solidFill>
                <a:latin typeface="Microsoft YaHei"/>
                <a:ea typeface="Microsoft YaHei"/>
              </a:rPr>
              <a:t>0</a:t>
            </a:r>
            <a:r>
              <a:rPr lang="en-US" sz="1050" b="1">
                <a:solidFill>
                  <a:srgbClr val="10B981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0639425" y="2447925"/>
            <a:ext cx="1905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94A3B8"/>
                </a:solidFill>
                <a:latin typeface="Microsoft YaHei"/>
                <a:ea typeface="Microsoft YaHei"/>
              </a:rPr>
              <a:t>部署
交付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3752850" y="3000375"/>
            <a:ext cx="7772400" cy="1285875"/>
          </a:xfrm>
          <a:prstGeom prst="roundRect">
            <a:avLst>
              <a:gd name="adj" fmla="val 10370"/>
            </a:avLst>
          </a:prstGeom>
          <a:gradFill>
            <a:gsLst>
              <a:gs pos="0">
                <a:srgbClr val="8B5CF6">
                  <a:alpha val="1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2700">
            <a:solidFill>
              <a:srgbClr val="8B5CF6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981450" y="3200400"/>
            <a:ext cx="190500" cy="190500"/>
          </a:xfrm>
          <a:prstGeom prst="rect">
            <a:avLst/>
          </a:prstGeom>
          <a:ln/>
        </p:spPr>
      </p:pic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4267200" y="3190875"/>
            <a:ext cx="1438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B5CF6"/>
                </a:solidFill>
                <a:latin typeface="Microsoft YaHei"/>
                <a:ea typeface="Microsoft YaHei"/>
              </a:rPr>
              <a:t>马来项目定制</a:t>
            </a:r>
            <a:r>
              <a:rPr lang="en-US" sz="1350" b="1">
                <a:solidFill>
                  <a:srgbClr val="8B5CF6"/>
                </a:solidFill>
                <a:latin typeface="Microsoft YaHei"/>
                <a:ea typeface="Microsoft YaHei"/>
              </a:rPr>
              <a:t> Skill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3981450" y="3514725"/>
            <a:ext cx="1733550" cy="581025"/>
          </a:xfrm>
          <a:prstGeom prst="roundRect">
            <a:avLst>
              <a:gd name="adj" fmla="val 16393"/>
            </a:avLst>
          </a:prstGeom>
          <a:solidFill>
            <a:srgbClr val="8B5CF6">
              <a:alpha val="8000"/>
            </a:srgbClr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4581525" y="36290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B5FD"/>
                </a:solidFill>
                <a:latin typeface="Microsoft YaHei"/>
                <a:ea typeface="Microsoft YaHei"/>
              </a:rPr>
              <a:t>三语转换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4400550" y="3848100"/>
            <a:ext cx="9048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中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英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马来自动互译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5848350" y="3514725"/>
            <a:ext cx="1724025" cy="581025"/>
          </a:xfrm>
          <a:prstGeom prst="roundRect">
            <a:avLst>
              <a:gd name="adj" fmla="val 16393"/>
            </a:avLst>
          </a:prstGeom>
          <a:solidFill>
            <a:srgbClr val="8B5CF6">
              <a:alpha val="8000"/>
            </a:srgbClr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448425" y="36290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B5FD"/>
                </a:solidFill>
                <a:latin typeface="Microsoft YaHei"/>
                <a:ea typeface="Microsoft YaHei"/>
              </a:rPr>
              <a:t>数据权限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305550" y="3848100"/>
            <a:ext cx="81915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多角色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RBAC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控制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7705725" y="3514725"/>
            <a:ext cx="1733550" cy="581025"/>
          </a:xfrm>
          <a:prstGeom prst="roundRect">
            <a:avLst>
              <a:gd name="adj" fmla="val 16393"/>
            </a:avLst>
          </a:prstGeom>
          <a:solidFill>
            <a:srgbClr val="8B5CF6">
              <a:alpha val="8000"/>
            </a:srgbClr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305800" y="36290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B5FD"/>
                </a:solidFill>
                <a:latin typeface="Microsoft YaHei"/>
                <a:ea typeface="Microsoft YaHei"/>
              </a:rPr>
              <a:t>登录校验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220075" y="3848100"/>
            <a:ext cx="70485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JWT+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统一鉴权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9572625" y="3514725"/>
            <a:ext cx="1724025" cy="581025"/>
          </a:xfrm>
          <a:prstGeom prst="roundRect">
            <a:avLst>
              <a:gd name="adj" fmla="val 16393"/>
            </a:avLst>
          </a:prstGeom>
          <a:solidFill>
            <a:srgbClr val="8B5CF6">
              <a:alpha val="8000"/>
            </a:srgbClr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0172700" y="36290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B5FD"/>
                </a:solidFill>
                <a:latin typeface="Microsoft YaHei"/>
                <a:ea typeface="Microsoft YaHei"/>
              </a:rPr>
              <a:t>操作日志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10067925" y="3848100"/>
            <a:ext cx="7334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全链路行为追踪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大赛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开课管理系统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1115675" y="6210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06 / 13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02" name="" descr="&lt;Slide style={{ width: 1280, height: 720, background: '#0A0E27', padding: '50px 70px 40px 70px' }}&gt;&#10;  {/* A区 */}&#10;  &lt;Box style={{ height: 80, borderLeft: '4px solid', borderImage: 'linear-gradient(180deg, #8B5CF6, #10B981) 1', paddingLeft: 20, justifyContent: 'center', marginBottom: 15 }}&gt;&#10;    &lt;Text style={{ fontSize: 34, fontWeight: 'bold', color: '#F1F5F9' }}&gt;前端 &amp; 测试 — 从原型到交付&lt;/Text&gt;&#10;  &lt;/Box&gt;&#10;&#10;  {/* B区 上下分栏 */}&#10;  &lt;Box style={{ flex: 1, gap: 14 }}&gt;&#10;    {/* 上半部 55% 前端 */}&#10;    &lt;Box style={{ flex: 3, background: '#131C3D', borderRadius: 14, padding: '20px 24px', gap: 12 }}&gt;&#10;      &lt;Box style={{ flexDirection: 'row', alignItems: 'center', gap: 10 }}&gt;&#10;        &lt;FAIcon name='desktop' style={{ fill: '#8B5CF6', width: 24, height: 24 }} /&gt;&#10;        &lt;Text style={{ fontSize: 20, fontWeight: 'bold', color: '#8B5CF6' }}&gt;前端开发&lt;/Text&gt;&#10;        &lt;Text style={{ fontSize: 14, color: '#A78BFA' }}&gt;— 原型即设计稿&lt;/Text&gt;&#10;      &lt;/Box&gt;&#10;      &lt;Box style={{ flexDirection: 'row', gap: 16 }}&gt;&#10;        {/* 步骤流程 */}&#10;        &lt;Box style={{ flex: 1, gap: 10 }}&gt;&#10;          {[&#10;            { icon: 'file-code', title: 'HTML原型解析', desc: 'AI分析可交互HTML，提取布局结构和交互逻辑' },&#10;            { icon: 'cubes', title: '组件库映射', desc: '根据组件库规范，将原型元素映射为正式组件代码' },&#10;            { icon: 'mobile-alt', title: '多端适配', desc: '自动处理响应式布局，适配PC/平板/移动端' },&#10;          ].map((item, i) =&gt; (&#10;            &lt;Box key={i} style={{ flexDirection: 'row', alignItems: 'flex-start', gap: 12, padding: '10px 0', borderBottom: i &lt; 2 ? '1px solid rgba(148,163,184,0.08)' : 'none' }}&gt;&#10;              &lt;Box style={{ width: 36, height: 36, borderRadius: 8, background: 'rgba(139,92,246,0.15)', justifyContent: 'center', alignItems: 'center', flexShrink: 0 }}&gt;&#10;                &lt;FAIcon name={item.icon} style={{ fill: '#8B5CF6', width: 18, height: 18 }} /&gt;&#10;              &lt;/Box&gt;&#10;              &lt;Box style={{ gap: 2 }}&gt;&#10;                &lt;Text style={{ fontSize: 16, fontWeight: 'bold', color: '#F1F5F9' }}&gt;{item.title}&lt;/Text&gt;&#10;                &lt;Text style={{ fontSize: 13, color: '#94A3B8' }}&gt;{item.desc}&lt;/Text&gt;&#10;              &lt;/Box&gt;&#10;            &lt;/Box&gt;&#10;          ))}&#10;        &lt;/Box&gt;&#10;        {/* 产出物 */}&#10;        &lt;Box style={{ width: 260, gap: 10, justifyContent: 'center' }}&gt;&#10;          {['TypeScript + React 页面', '可复用业务组件', '统一主题 &amp; 设计Token', '表单校验 &amp; 状态管理'].map((t, i) =&gt; (&#10;            &lt;Box key={i} style={{ flexDirection: 'row', alignItems: 'center', gap: 8 }}&gt;&#10;              &lt;FAIcon name='check' style={{ fill: '#10B981', width: 14, height: 14 }} /&gt;&#10;              &lt;Text style={{ fontSize: 13, color: '#E2E8F0' }}&gt;{t}&lt;/Text&gt;&#10;            &lt;/Box&gt;&#10;          ))}&#10;        &lt;/Box&gt;&#10;      &lt;/Box&gt;&#10;    &lt;/Box&gt;&#10;&#10;    {/* 下半部 45% 测试 */}&#10;    &lt;Box style={{ flex: 2, background: 'linear-gradient(135deg, rgba(16,185,129,0.08) 0%, rgba(59,130,246,0.04) 100%)', borderRadius: 14, padding: '20px 24px', border: '1px solid rgba(16,185,129,0.15)', gap: 12 }}&gt;&#10;      &lt;Box style={{ flexDirection: 'row', alignItems: 'center', gap: 10 }}&gt;&#10;        &lt;FAIcon name='vial' style={{ fill: '#10B981', width: 24, height: 24 }} /&gt;&#10;        &lt;Text style={{ fontSize: 20, fontWeight: 'bold', color: '#10B981' }}&gt;自动测试&lt;/Text&gt;&#10;      &lt;/Box&gt;&#10;      &lt;Box style={{ flexDirection: 'row', gap: 14 }}&gt;&#10;        {[&#10;          { icon: 'list-alt', title: 'AI生成测试用例', desc: '根据功能点自动生成覆盖正常/异常/边界的测试场景' },&#10;          { icon: 'play', title: 'AI执行测试', desc: '自动化运行全部用例，实时记录通过率与异常信息' },&#10;          { icon: 'file-pdf', title: '输出测试报告', desc: '结构化测试报告，含通过率、问题清单与修复建议' },&#10;        ].map((item, i) =&gt; (&#10;          &lt;Box key={i} style={{ flex: 1, background: 'rgba(16,185,129,0.06)', borderRadius: 10, padding: '14px 16px', gap: 6, alignItems: 'center' }}&gt;&#10;            &lt;FAIcon name={item.icon} style={{ fill: '#10B981', width: 22, height: 22 }} /&gt;&#10;            &lt;Text style={{ fontSize: 14, fontWeight: 'bold', color: '#F1F5F9', textAlign: 'center' }}&gt;{item.title}&lt;/Text&gt;&#10;            &lt;Text style={{ fontSize: 11, color: '#94A3B8', textAlign: 'center', lineHeight: 1.4 }}&gt;{item.desc}&lt;/Text&gt;&#10;          &lt;/Box&gt;&#10;        ))}&#10;      &lt;/Box&gt;&#10;    &lt;/Box&gt;&#10;  &lt;/Box&gt;&#10;&#10;  {/* C区 */}&#10;  &lt;Box style={{ height: 40, flexDirection: 'row', justifyContent: 'space-between', alignItems: 'center', marginTop: 10 }}&gt;&#10;    &lt;Text style={{ fontSize: 14, color: '#64748B' }}&gt;AI大赛 · 开课管理系统&lt;/Text&gt;&#10;    &lt;Text style={{ fontSize: 14, color: '#64748B' }}&gt;07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666750" y="476250"/>
            <a:ext cx="10896600" cy="762000"/>
          </a:xfrm>
          <a:custGeom>
            <a:pathLst>
              <a:path w="1144" h="80">
                <a:moveTo>
                  <a:pt x="0" y="0"/>
                </a:moveTo>
                <a:lnTo>
                  <a:pt x="4" y="0"/>
                </a:lnTo>
                <a:lnTo>
                  <a:pt x="4" y="80"/>
                </a:lnTo>
                <a:lnTo>
                  <a:pt x="0" y="80"/>
                </a:lnTo>
                <a:close/>
              </a:path>
            </a:pathLst>
          </a:custGeom>
          <a:gradFill>
            <a:gsLst>
              <a:gs pos="0">
                <a:srgbClr val="8B5CF6"/>
              </a:gs>
              <a:gs pos="100000">
                <a:srgbClr val="10B981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95350" y="666750"/>
            <a:ext cx="10629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前端</a:t>
            </a:r>
            <a:r>
              <a:rPr lang="en-US" sz="2550" b="1">
                <a:solidFill>
                  <a:srgbClr val="F1F5F9"/>
                </a:solidFill>
                <a:latin typeface="Microsoft YaHei"/>
                <a:ea typeface="Microsoft YaHei"/>
              </a:rPr>
              <a:t> &amp; </a:t>
            </a: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测试</a:t>
            </a:r>
            <a:r>
              <a:rPr lang="en-US" sz="2550" b="1">
                <a:solidFill>
                  <a:srgbClr val="F1F5F9"/>
                </a:solidFill>
                <a:latin typeface="Microsoft YaHei"/>
                <a:ea typeface="Microsoft YaHei"/>
              </a:rPr>
              <a:t> — </a:t>
            </a: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从原型到交付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66750" y="1381125"/>
            <a:ext cx="10858500" cy="2733675"/>
          </a:xfrm>
          <a:prstGeom prst="roundRect">
            <a:avLst>
              <a:gd name="adj" fmla="val 4878"/>
            </a:avLst>
          </a:prstGeom>
          <a:solidFill>
            <a:srgbClr val="131C3D"/>
          </a:solidFill>
          <a:ln/>
        </p:spPr>
        <p:txBody>
          <a:bodyPr/>
          <a:p/>
        </p:txBody>
      </p:sp>
      <p:pic>
        <p:nvPicPr>
          <p:cNvPr id="4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1571625"/>
            <a:ext cx="228600" cy="228600"/>
          </a:xfrm>
          <a:prstGeom prst="rect">
            <a:avLst/>
          </a:prstGeom>
          <a:ln/>
        </p:spPr>
      </p:pic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219200" y="157162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8B5CF6"/>
                </a:solidFill>
                <a:latin typeface="Microsoft YaHei"/>
                <a:ea typeface="Microsoft YaHei"/>
              </a:rPr>
              <a:t>前端开发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2076450" y="1609725"/>
            <a:ext cx="971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78BFA"/>
                </a:solidFill>
                <a:latin typeface="Microsoft YaHei"/>
                <a:ea typeface="Microsoft YaHei"/>
              </a:rPr>
              <a:t>— </a:t>
            </a:r>
            <a:r>
              <a:rPr lang="zh-CN" sz="1050">
                <a:solidFill>
                  <a:srgbClr val="A78BFA"/>
                </a:solidFill>
                <a:latin typeface="Microsoft YaHei"/>
                <a:ea typeface="Microsoft YaHei"/>
              </a:rPr>
              <a:t>原型即设计稿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895350" y="1914525"/>
            <a:ext cx="7772400" cy="571500"/>
          </a:xfrm>
          <a:custGeom>
            <a:pathLst>
              <a:path w="816" h="60">
                <a:moveTo>
                  <a:pt x="0" y="59"/>
                </a:moveTo>
                <a:lnTo>
                  <a:pt x="816" y="59"/>
                </a:lnTo>
                <a:lnTo>
                  <a:pt x="816" y="60"/>
                </a:lnTo>
                <a:lnTo>
                  <a:pt x="0" y="60"/>
                </a:lnTo>
                <a:close/>
              </a:path>
            </a:pathLst>
          </a:custGeom>
          <a:solidFill>
            <a:srgbClr val="94A3B8">
              <a:alpha val="8000"/>
            </a:srgbClr>
          </a:solidFill>
          <a:ln/>
        </p:spPr>
        <p:txBody>
          <a:bodyPr/>
          <a:p/>
        </p:txBody>
      </p:sp>
      <p:sp>
        <p:nvSpPr>
          <p:cNvPr id="411" name=""/>
          <p:cNvSpPr/>
          <p:nvPr/>
        </p:nvSpPr>
        <p:spPr>
          <a:xfrm rot="0" flipH="0" flipV="0">
            <a:off x="895350" y="20097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p/>
        </p:txBody>
      </p:sp>
      <p:pic>
        <p:nvPicPr>
          <p:cNvPr id="4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81075" y="2095500"/>
            <a:ext cx="171450" cy="171450"/>
          </a:xfrm>
          <a:prstGeom prst="rect">
            <a:avLst/>
          </a:prstGeom>
          <a:ln/>
        </p:spPr>
      </p:pic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352550" y="2009775"/>
            <a:ext cx="2562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1F5F9"/>
                </a:solidFill>
                <a:latin typeface="Microsoft YaHei"/>
                <a:ea typeface="Microsoft YaHei"/>
              </a:rPr>
              <a:t>HTML</a:t>
            </a:r>
            <a:r>
              <a:rPr lang="zh-CN" sz="1200" b="1">
                <a:solidFill>
                  <a:srgbClr val="F1F5F9"/>
                </a:solidFill>
                <a:latin typeface="Microsoft YaHei"/>
                <a:ea typeface="Microsoft YaHei"/>
              </a:rPr>
              <a:t>原型解析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1352550" y="2219325"/>
            <a:ext cx="2562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分析可交互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HTML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，提取布局结构和交互逻辑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895350" y="2571750"/>
            <a:ext cx="7772400" cy="571500"/>
          </a:xfrm>
          <a:custGeom>
            <a:pathLst>
              <a:path w="816" h="60">
                <a:moveTo>
                  <a:pt x="0" y="59"/>
                </a:moveTo>
                <a:lnTo>
                  <a:pt x="816" y="59"/>
                </a:lnTo>
                <a:lnTo>
                  <a:pt x="816" y="60"/>
                </a:lnTo>
                <a:lnTo>
                  <a:pt x="0" y="60"/>
                </a:lnTo>
                <a:close/>
              </a:path>
            </a:pathLst>
          </a:custGeom>
          <a:solidFill>
            <a:srgbClr val="94A3B8">
              <a:alpha val="8000"/>
            </a:srgbClr>
          </a:solidFill>
          <a:ln/>
        </p:spPr>
        <p:txBody>
          <a:bodyPr/>
          <a:p/>
        </p:txBody>
      </p:sp>
      <p:sp>
        <p:nvSpPr>
          <p:cNvPr id="416" name=""/>
          <p:cNvSpPr/>
          <p:nvPr/>
        </p:nvSpPr>
        <p:spPr>
          <a:xfrm rot="0" flipH="0" flipV="0">
            <a:off x="895350" y="26670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p/>
        </p:txBody>
      </p:sp>
      <p:pic>
        <p:nvPicPr>
          <p:cNvPr id="4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81075" y="2752725"/>
            <a:ext cx="171450" cy="171450"/>
          </a:xfrm>
          <a:prstGeom prst="rect">
            <a:avLst/>
          </a:prstGeom>
          <a:ln/>
        </p:spPr>
      </p:pic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352550" y="2667000"/>
            <a:ext cx="2724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1F5F9"/>
                </a:solidFill>
                <a:latin typeface="Microsoft YaHei"/>
                <a:ea typeface="Microsoft YaHei"/>
              </a:rPr>
              <a:t>组件库映射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1352550" y="2876550"/>
            <a:ext cx="2724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根据组件库规范，将原型元素映射为正式组件代码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895350" y="33242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p/>
        </p:txBody>
      </p:sp>
      <p:pic>
        <p:nvPicPr>
          <p:cNvPr id="4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81075" y="3409950"/>
            <a:ext cx="171450" cy="171450"/>
          </a:xfrm>
          <a:prstGeom prst="rect">
            <a:avLst/>
          </a:prstGeom>
          <a:ln/>
        </p:spPr>
      </p:pic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352550" y="3324225"/>
            <a:ext cx="2352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1F5F9"/>
                </a:solidFill>
                <a:latin typeface="Microsoft YaHei"/>
                <a:ea typeface="Microsoft YaHei"/>
              </a:rPr>
              <a:t>多端适配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1352550" y="3533775"/>
            <a:ext cx="2352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自动处理响应式布局，适配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PC/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平板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移动端</a:t>
            </a:r>
            <a:endParaRPr/>
          </a:p>
        </p:txBody>
      </p:sp>
      <p:pic>
        <p:nvPicPr>
          <p:cNvPr id="4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820150" y="2409825"/>
            <a:ext cx="133350" cy="133350"/>
          </a:xfrm>
          <a:prstGeom prst="rect">
            <a:avLst/>
          </a:prstGeom>
          <a:ln/>
        </p:spPr>
      </p:pic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9029700" y="2400300"/>
            <a:ext cx="1333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/>
                </a:solidFill>
                <a:latin typeface="Microsoft YaHei"/>
                <a:ea typeface="Microsoft YaHei"/>
              </a:rPr>
              <a:t>TypeScript + React </a:t>
            </a:r>
            <a:r>
              <a:rPr lang="zh-CN" sz="975">
                <a:solidFill>
                  <a:srgbClr val="E2E8F0"/>
                </a:solidFill>
                <a:latin typeface="Microsoft YaHei"/>
                <a:ea typeface="Microsoft YaHei"/>
              </a:rPr>
              <a:t>页面</a:t>
            </a:r>
            <a:endParaRPr/>
          </a:p>
        </p:txBody>
      </p:sp>
      <p:pic>
        <p:nvPicPr>
          <p:cNvPr id="4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820150" y="2657475"/>
            <a:ext cx="133350" cy="133350"/>
          </a:xfrm>
          <a:prstGeom prst="rect">
            <a:avLst/>
          </a:prstGeom>
          <a:ln/>
        </p:spPr>
      </p:pic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9029700" y="264795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2E8F0"/>
                </a:solidFill>
                <a:latin typeface="Microsoft YaHei"/>
                <a:ea typeface="Microsoft YaHei"/>
              </a:rPr>
              <a:t>可复用业务组件</a:t>
            </a:r>
            <a:endParaRPr/>
          </a:p>
        </p:txBody>
      </p:sp>
      <p:pic>
        <p:nvPicPr>
          <p:cNvPr id="4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820150" y="2905125"/>
            <a:ext cx="133350" cy="133350"/>
          </a:xfrm>
          <a:prstGeom prst="rect">
            <a:avLst/>
          </a:prstGeom>
          <a:ln/>
        </p:spPr>
      </p:pic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9029700" y="2895600"/>
            <a:ext cx="1228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2E8F0"/>
                </a:solidFill>
                <a:latin typeface="Microsoft YaHei"/>
                <a:ea typeface="Microsoft YaHei"/>
              </a:rPr>
              <a:t>统一主题</a:t>
            </a:r>
            <a:r>
              <a:rPr lang="en-US" sz="975">
                <a:solidFill>
                  <a:srgbClr val="E2E8F0"/>
                </a:solidFill>
                <a:latin typeface="Microsoft YaHei"/>
                <a:ea typeface="Microsoft YaHei"/>
              </a:rPr>
              <a:t> &amp; </a:t>
            </a:r>
            <a:r>
              <a:rPr lang="zh-CN" sz="975">
                <a:solidFill>
                  <a:srgbClr val="E2E8F0"/>
                </a:solidFill>
                <a:latin typeface="Microsoft YaHei"/>
                <a:ea typeface="Microsoft YaHei"/>
              </a:rPr>
              <a:t>设计</a:t>
            </a:r>
            <a:r>
              <a:rPr lang="en-US" sz="975">
                <a:solidFill>
                  <a:srgbClr val="E2E8F0"/>
                </a:solidFill>
                <a:latin typeface="Microsoft YaHei"/>
                <a:ea typeface="Microsoft YaHei"/>
              </a:rPr>
              <a:t>Token</a:t>
            </a:r>
            <a:endParaRPr/>
          </a:p>
        </p:txBody>
      </p:sp>
      <p:pic>
        <p:nvPicPr>
          <p:cNvPr id="4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820150" y="3152775"/>
            <a:ext cx="133350" cy="133350"/>
          </a:xfrm>
          <a:prstGeom prst="rect">
            <a:avLst/>
          </a:prstGeom>
          <a:ln/>
        </p:spPr>
      </p:pic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9029700" y="3143250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2E8F0"/>
                </a:solidFill>
                <a:latin typeface="Microsoft YaHei"/>
                <a:ea typeface="Microsoft YaHei"/>
              </a:rPr>
              <a:t>表单校验</a:t>
            </a:r>
            <a:r>
              <a:rPr lang="en-US" sz="975">
                <a:solidFill>
                  <a:srgbClr val="E2E8F0"/>
                </a:solidFill>
                <a:latin typeface="Microsoft YaHei"/>
                <a:ea typeface="Microsoft YaHei"/>
              </a:rPr>
              <a:t> &amp; </a:t>
            </a:r>
            <a:r>
              <a:rPr lang="zh-CN" sz="975">
                <a:solidFill>
                  <a:srgbClr val="E2E8F0"/>
                </a:solidFill>
                <a:latin typeface="Microsoft YaHei"/>
                <a:ea typeface="Microsoft YaHei"/>
              </a:rPr>
              <a:t>状态管理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666750" y="4248150"/>
            <a:ext cx="10858500" cy="1752600"/>
          </a:xfrm>
          <a:prstGeom prst="roundRect">
            <a:avLst>
              <a:gd name="adj" fmla="val 7609"/>
            </a:avLst>
          </a:prstGeom>
          <a:gradFill>
            <a:gsLst>
              <a:gs pos="0">
                <a:srgbClr val="10B981">
                  <a:alpha val="8000"/>
                </a:srgbClr>
              </a:gs>
              <a:gs pos="100000">
                <a:srgbClr val="3B82F6">
                  <a:alpha val="4000"/>
                </a:srgbClr>
              </a:gs>
            </a:gsLst>
            <a:lin ang="2700000" scaled="1"/>
          </a:gradFill>
          <a:ln w="12700">
            <a:solidFill>
              <a:srgbClr val="10B981">
                <a:alpha val="1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95350" y="4438650"/>
            <a:ext cx="228600" cy="228600"/>
          </a:xfrm>
          <a:prstGeom prst="rect">
            <a:avLst/>
          </a:prstGeom>
          <a:ln/>
        </p:spPr>
      </p:pic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1219200" y="44386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0B981"/>
                </a:solidFill>
                <a:latin typeface="Microsoft YaHei"/>
                <a:ea typeface="Microsoft YaHei"/>
              </a:rPr>
              <a:t>自动测试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895350" y="4781550"/>
            <a:ext cx="3381375" cy="933450"/>
          </a:xfrm>
          <a:prstGeom prst="roundRect">
            <a:avLst>
              <a:gd name="adj" fmla="val 10204"/>
            </a:avLst>
          </a:prstGeom>
          <a:solidFill>
            <a:srgbClr val="10B981">
              <a:alpha val="6000"/>
            </a:srgbClr>
          </a:solidFill>
          <a:ln/>
        </p:spPr>
        <p:txBody>
          <a:bodyPr/>
          <a:p/>
        </p:txBody>
      </p:sp>
      <p:pic>
        <p:nvPicPr>
          <p:cNvPr id="4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2486025" y="4914900"/>
            <a:ext cx="209550" cy="209550"/>
          </a:xfrm>
          <a:prstGeom prst="rect">
            <a:avLst/>
          </a:prstGeom>
          <a:ln/>
        </p:spPr>
      </p:pic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2124075" y="5181600"/>
            <a:ext cx="9334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1F5F9"/>
                </a:solidFill>
                <a:latin typeface="Microsoft YaHei"/>
                <a:ea typeface="Microsoft YaHei"/>
              </a:rPr>
              <a:t>AI</a:t>
            </a:r>
            <a:r>
              <a:rPr lang="zh-CN" sz="1050" b="1">
                <a:solidFill>
                  <a:srgbClr val="F1F5F9"/>
                </a:solidFill>
                <a:latin typeface="Microsoft YaHei"/>
                <a:ea typeface="Microsoft YaHei"/>
              </a:rPr>
              <a:t>生成测试用例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400175" y="5400675"/>
            <a:ext cx="2371725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根据功能点自动生成覆盖正常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异常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边界的测试场景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4410075" y="4781550"/>
            <a:ext cx="3371850" cy="933450"/>
          </a:xfrm>
          <a:prstGeom prst="roundRect">
            <a:avLst>
              <a:gd name="adj" fmla="val 10204"/>
            </a:avLst>
          </a:prstGeom>
          <a:solidFill>
            <a:srgbClr val="10B981">
              <a:alpha val="6000"/>
            </a:srgbClr>
          </a:solidFill>
          <a:ln/>
        </p:spPr>
        <p:txBody>
          <a:bodyPr/>
          <a:p/>
        </p:txBody>
      </p:sp>
      <p:pic>
        <p:nvPicPr>
          <p:cNvPr id="4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5991225" y="4914900"/>
            <a:ext cx="209550" cy="209550"/>
          </a:xfrm>
          <a:prstGeom prst="rect">
            <a:avLst/>
          </a:prstGeom>
          <a:ln/>
        </p:spPr>
      </p:pic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5762625" y="5181600"/>
            <a:ext cx="6667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1F5F9"/>
                </a:solidFill>
                <a:latin typeface="Microsoft YaHei"/>
                <a:ea typeface="Microsoft YaHei"/>
              </a:rPr>
              <a:t>AI</a:t>
            </a:r>
            <a:r>
              <a:rPr lang="zh-CN" sz="1050" b="1">
                <a:solidFill>
                  <a:srgbClr val="F1F5F9"/>
                </a:solidFill>
                <a:latin typeface="Microsoft YaHei"/>
                <a:ea typeface="Microsoft YaHei"/>
              </a:rPr>
              <a:t>执行测试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4943475" y="5400675"/>
            <a:ext cx="230505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自动化运行全部用例，实时记录通过率与异常信息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7915275" y="4781550"/>
            <a:ext cx="3381375" cy="933450"/>
          </a:xfrm>
          <a:prstGeom prst="roundRect">
            <a:avLst>
              <a:gd name="adj" fmla="val 10204"/>
            </a:avLst>
          </a:prstGeom>
          <a:solidFill>
            <a:srgbClr val="10B981">
              <a:alpha val="6000"/>
            </a:srgbClr>
          </a:solidFill>
          <a:ln/>
        </p:spPr>
        <p:txBody>
          <a:bodyPr/>
          <a:p/>
        </p:txBody>
      </p:sp>
      <p:pic>
        <p:nvPicPr>
          <p:cNvPr id="4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0" flipV="0">
            <a:off x="9505950" y="4914900"/>
            <a:ext cx="209550" cy="209550"/>
          </a:xfrm>
          <a:prstGeom prst="rect">
            <a:avLst/>
          </a:prstGeom>
          <a:ln/>
        </p:spPr>
      </p:pic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9210675" y="5181600"/>
            <a:ext cx="8001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 b="1">
                <a:solidFill>
                  <a:srgbClr val="F1F5F9"/>
                </a:solidFill>
                <a:latin typeface="Microsoft YaHei"/>
                <a:ea typeface="Microsoft YaHei"/>
              </a:rPr>
              <a:t>输出测试报告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8458200" y="5400675"/>
            <a:ext cx="230505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结构化测试报告，含通过率、问题清单与修复建议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大赛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开课管理系统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11115675" y="6210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07 / 13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49" name="" descr="&lt;Slide style={{ width: 1280, height: 720, background: '#0A0E27', padding: 0, position: 'relative', overflow: 'hidden' }}&gt;&#10;  {/* 全幅背景装饰 */}&#10;  &lt;Box style={{ position: 'absolute', top: 0, left: 0, width: '100%', height: '100%', background: 'radial-gradient(ellipse at 30% 50%, rgba(6,182,212,0.08) 0%, transparent 60%), radial-gradient(ellipse at 70% 30%, rgba(139,92,246,0.06) 0%, transparent 50%)' }} /&gt;&#10;&#10;  {/* 网格 */}&#10;  &lt;svg style={{ position: 'absolute', top: 0, left: 0, width: 1280, height: 720, opacity: 0.03 }}&gt;&#10;    &lt;svg viewBox='0 0 1280 720'&gt;&#10;      {Array.from({ length: 12 }, (_, i) =&gt; &lt;line key={i} x1={0} y1={i * 60} x2={1280} y2={i * 60} stroke='#06B6D4' strokeWidth={0.5} /&gt;)}&#10;      {Array.from({ length: 21 }, (_, i) =&gt; &lt;line key={i} x1={i * 60} y1={0} x2={i * 60} y2={720} stroke='#06B6D4' strokeWidth={0.5} /&gt;)}&#10;    &lt;/svg&gt;&#10;  &lt;/svg&gt;&#10;&#10;  {/* 主内容 */}&#10;  &lt;Box style={{ position: 'relative', zIndex: 2, padding: '60px 80px', flex: 1 }}&gt;&#10;    {/* 顶部标签 */}&#10;    &lt;Box style={{ flexDirection: 'row', alignItems: 'center', gap: 12, marginBottom: 20 }}&gt;&#10;      &lt;Box style={{ width: 32, height: 3, background: '#06B6D4', borderRadius: 2 }} /&gt;&#10;      &lt;Text style={{ fontSize: 14, color: '#06B6D4', letterSpacing: 3, fontWeight: 'bold' }}&gt;评分维度一 · 30分&lt;/Text&gt;&#10;    &lt;/Box&gt;&#10;&#10;    {/* 标题 */}&#10;    &lt;Text style={{ fontSize: 40, fontWeight: 'bold', color: '#F1F5F9', lineHeight: 1.3, marginBottom: 30 }}&gt;&#10;      AI Agent 调度能力&#10;    &lt;/Text&gt;&#10;    &lt;Text style={{ fontSize: 22, color: '#94A3B8', marginBottom: 40 }}&gt;&#10;      7×24 小时自主作业 · 无人值守持续交付&#10;    &lt;/Text&gt;&#10;&#10;    {/* 核心数据三块 */}&#10;    &lt;Box style={{ flexDirection: 'row', gap: 28 }}&gt;&#10;      &lt;Box style={{ flex: 1, background: 'linear-gradient(180deg, rgba(6,182,212,0.12) 0%, rgba(6,182,212,0.03) 100%)', borderRadius: 18, border: '1px solid rgba(6,182,212,0.2)', padding: '28px 24px', alignItems: 'center', gap: 12 }}&gt;&#10;        &lt;FAIcon name='clock' style={{ fill: '#06B6D4', width: 36, height: 36 }} /&gt;&#10;        &lt;Text style={{ fontSize: 72, fontWeight: 'bold', color: '#06B6D4', lineHeight: 1 }}&gt;7×24&lt;/Text&gt;&#10;        &lt;Text style={{ fontSize: 18, fontWeight: 'bold', color: '#F1F5F9' }}&gt;全天候自主作业&lt;/Text&gt;&#10;        &lt;Text style={{ fontSize: 13, color: '#94A3B8', textAlign: 'center' }}&gt;Agent发起任务→AI拆解→编码→测试→交付，全程无人值守&lt;/Text&gt;&#10;      &lt;/Box&gt;&#10;&#10;      &lt;Box style={{ flex: 1, background: 'linear-gradient(180deg, rgba(59,130,246,0.12) 0%, rgba(59,130,246,0.03) 100%)', borderRadius: 18, border: '1px solid rgba(59,130,246,0.2)', padding: '28px 24px', alignItems: 'center', gap: 12 }}&gt;&#10;        &lt;FAIcon name='sitemap' style={{ fill: '#3B82F6', width: 36, height: 36 }} /&gt;&#10;        &lt;Text style={{ fontSize: 72, fontWeight: 'bold', color: '#3B82F6', lineHeight: 1 }}&gt;100+&lt;/Text&gt;&#10;        &lt;Text style={{ fontSize: 18, fontWeight: 'bold', color: '#F1F5F9' }}&gt;AI任务并行调度&lt;/Text&gt;&#10;        &lt;Text style={{ fontSize: 13, color: '#94A3B8', textAlign: 'center' }}&gt;多Agent协同、任务队列管理、自动优先级排序&lt;/Text&gt;&#10;      &lt;/Box&gt;&#10;&#10;      &lt;Box style={{ flex: 1, background: 'linear-gradient(180deg, rgba(16,185,129,0.12) 0%, rgba(16,185,129,0.03) 100%)', borderRadius: 18, border: '1px solid rgba(16,185,129,0.2)', padding: '28px 24px', alignItems: 'center', gap: 12 }}&gt;&#10;        &lt;FAIcon name='sync-alt' style={{ fill: '#10B981', width: 36, height: 36 }} /&gt;&#10;        &lt;Text style={{ fontSize: 72, fontWeight: 'bold', color: '#10B981', lineHeight: 1 }}&gt;100%&lt;/Text&gt;&#10;        &lt;Text style={{ fontSize: 18, fontWeight: 'bold', color: '#F1F5F9' }}&gt;全流程覆盖&lt;/Text&gt;&#10;        &lt;Text style={{ fontSize: 13, color: '#94A3B8', textAlign: 'center' }}&gt;需求→设计→开发→测试→部署，端到端无断点&lt;/Text&gt;&#10;      &lt;/Box&gt;&#10;    &lt;/Box&gt;&#10;  &lt;/Box&gt;&#10;&#10;  {/* C区 */}&#10;  &lt;Box style={{ position: 'relative', zIndex: 2, height: 40, flexDirection: 'row', justifyContent: 'space-between', alignItems: 'center', padding: '0 80px' }}&gt;&#10;    &lt;Text style={{ fontSize: 14, color: '#64748B' }}&gt;AI大赛 · 开课管理系统&lt;/Text&gt;&#10;    &lt;Text style={{ fontSize: 14, color: '#64748B' }}&gt;08 / 13&lt;/Text&gt;&#10;  &lt;/Box&gt;&#10;&#10;  {/* 底部渐变条 */}&#10;  &lt;Box style={{ position: 'absolute', bottom: 0, left: 0, width: '100%', height: 4, background: 'linear-gradient(90deg, #06B6D4, #3B82F6, #8B5CF6)' }} /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p/>
        </p:txBody>
      </p:sp>
      <p:sp>
        <p:nvSpPr>
          <p:cNvPr id="4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B6D4">
                  <a:alpha val="8000"/>
                </a:srgbClr>
              </a:gs>
              <a:gs pos="60000">
                <a:srgbClr val="FFFFFF">
                  <a:alpha val="0"/>
                </a:srgbClr>
              </a:gs>
            </a:gsLst>
            <a:path path="rect">
              <a:fillToRect l="30000" t="50000" r="70000" b="50000"/>
            </a:path>
          </a:gradFill>
          <a:ln/>
        </p:spPr>
        <p:txBody>
          <a:bodyPr/>
          <a:p/>
        </p:txBody>
      </p:sp>
      <p:sp>
        <p:nvSpPr>
          <p:cNvPr id="4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5CF6">
                  <a:alpha val="6000"/>
                </a:srgbClr>
              </a:gs>
              <a:gs pos="50000">
                <a:srgbClr val="FFFFFF">
                  <a:alpha val="0"/>
                </a:srgbClr>
              </a:gs>
            </a:gsLst>
            <a:path path="rect">
              <a:fillToRect l="70000" t="30000" r="30000" b="70000"/>
            </a:path>
          </a:gradFill>
          <a:ln/>
        </p:spPr>
        <p:txBody>
          <a:bodyPr/>
          <a:p/>
        </p:txBody>
      </p:sp>
      <p:pic>
        <p:nvPicPr>
          <p:cNvPr id="453" name=""/>
          <p:cNvPicPr>
            <a:picLocks noChangeAspect="1"/>
          </p:cNvPicPr>
          <p:nvPr/>
        </p:nvPicPr>
        <p:blipFill>
          <a:blip>
            <a:alphaModFix amt="3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54" name=""/>
          <p:cNvSpPr/>
          <p:nvPr/>
        </p:nvSpPr>
        <p:spPr>
          <a:xfrm rot="0" flipH="0" flipV="0"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6B6D4"/>
              </a:gs>
              <a:gs pos="50000">
                <a:srgbClr val="3B82F6"/>
              </a:gs>
              <a:gs pos="100000">
                <a:srgbClr val="8B5CF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55" name=""/>
          <p:cNvSpPr/>
          <p:nvPr/>
        </p:nvSpPr>
        <p:spPr>
          <a:xfrm rot="0" flipH="0" flipV="0">
            <a:off x="762000" y="638175"/>
            <a:ext cx="304800" cy="28575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181100" y="571500"/>
            <a:ext cx="1390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225">
                <a:solidFill>
                  <a:srgbClr val="06B6D4"/>
                </a:solidFill>
                <a:latin typeface="Microsoft YaHei"/>
                <a:ea typeface="Microsoft YaHei"/>
              </a:rPr>
              <a:t>评分维度一</a:t>
            </a:r>
            <a:r>
              <a:rPr lang="en-US" sz="1050" b="1" spc="225">
                <a:solidFill>
                  <a:srgbClr val="06B6D4"/>
                </a:solidFill>
                <a:latin typeface="Microsoft YaHei"/>
                <a:ea typeface="Microsoft YaHei"/>
              </a:rPr>
              <a:t> · 30</a:t>
            </a:r>
            <a:r>
              <a:rPr lang="zh-CN" sz="1050" b="1" spc="225">
                <a:solidFill>
                  <a:srgbClr val="06B6D4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762000" y="923925"/>
            <a:ext cx="10668000" cy="600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3000" b="1">
                <a:solidFill>
                  <a:srgbClr val="F1F5F9"/>
                </a:solidFill>
                <a:latin typeface="Microsoft YaHei"/>
                <a:ea typeface="Microsoft YaHei"/>
              </a:rPr>
              <a:t>AI Agent </a:t>
            </a:r>
            <a:r>
              <a:rPr lang="zh-CN" sz="3000" b="1">
                <a:solidFill>
                  <a:srgbClr val="F1F5F9"/>
                </a:solidFill>
                <a:latin typeface="Microsoft YaHei"/>
                <a:ea typeface="Microsoft YaHei"/>
              </a:rPr>
              <a:t>调度能力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762000" y="1809750"/>
            <a:ext cx="1066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>7×24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小时自主作业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无人值守持续交付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762000" y="2447925"/>
            <a:ext cx="3381375" cy="2562225"/>
          </a:xfrm>
          <a:prstGeom prst="roundRect">
            <a:avLst>
              <a:gd name="adj" fmla="val 6691"/>
            </a:avLst>
          </a:prstGeom>
          <a:gradFill>
            <a:gsLst>
              <a:gs pos="0">
                <a:srgbClr val="06B6D4">
                  <a:alpha val="12000"/>
                </a:srgbClr>
              </a:gs>
              <a:gs pos="100000">
                <a:srgbClr val="06B6D4">
                  <a:alpha val="3000"/>
                </a:srgbClr>
              </a:gs>
            </a:gsLst>
            <a:lin ang="5400000" scaled="1"/>
          </a:gra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286000" y="2714625"/>
            <a:ext cx="342900" cy="342900"/>
          </a:xfrm>
          <a:prstGeom prst="rect">
            <a:avLst/>
          </a:prstGeom>
          <a:ln/>
        </p:spPr>
      </p:pic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1676400" y="3171825"/>
            <a:ext cx="15525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6B6D4"/>
                </a:solidFill>
                <a:latin typeface="Microsoft YaHei"/>
                <a:ea typeface="Microsoft YaHei"/>
              </a:rPr>
              <a:t>7×24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857375" y="41148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全天候自主作业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990600" y="4438650"/>
            <a:ext cx="2924175" cy="3048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Agent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发起任务→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拆解→编码→测试→交付，全程无人值守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4410075" y="2447925"/>
            <a:ext cx="3371850" cy="2562225"/>
          </a:xfrm>
          <a:prstGeom prst="roundRect">
            <a:avLst>
              <a:gd name="adj" fmla="val 6691"/>
            </a:avLst>
          </a:prstGeom>
          <a:gradFill>
            <a:gsLst>
              <a:gs pos="0">
                <a:srgbClr val="3B82F6">
                  <a:alpha val="12000"/>
                </a:srgbClr>
              </a:gs>
              <a:gs pos="100000">
                <a:srgbClr val="3B82F6">
                  <a:alpha val="3000"/>
                </a:srgbClr>
              </a:gs>
            </a:gsLst>
            <a:lin ang="5400000" scaled="1"/>
          </a:gra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924550" y="2714625"/>
            <a:ext cx="342900" cy="342900"/>
          </a:xfrm>
          <a:prstGeom prst="rect">
            <a:avLst/>
          </a:prstGeom>
          <a:ln/>
        </p:spPr>
      </p:pic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5324475" y="3171825"/>
            <a:ext cx="15525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3B82F6"/>
                </a:solidFill>
                <a:latin typeface="Microsoft YaHei"/>
                <a:ea typeface="Microsoft YaHei"/>
              </a:rPr>
              <a:t>100+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5495925" y="41148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1F5F9"/>
                </a:solidFill>
                <a:latin typeface="Microsoft YaHei"/>
                <a:ea typeface="Microsoft YaHei"/>
              </a:rPr>
              <a:t>AI</a:t>
            </a: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任务并行调度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4819650" y="4438650"/>
            <a:ext cx="25527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多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Agent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协同、任务队列管理、自动优先级排序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8048625" y="2447925"/>
            <a:ext cx="3381375" cy="2562225"/>
          </a:xfrm>
          <a:prstGeom prst="roundRect">
            <a:avLst>
              <a:gd name="adj" fmla="val 6691"/>
            </a:avLst>
          </a:prstGeom>
          <a:gradFill>
            <a:gsLst>
              <a:gs pos="0">
                <a:srgbClr val="10B981">
                  <a:alpha val="12000"/>
                </a:srgbClr>
              </a:gs>
              <a:gs pos="100000">
                <a:srgbClr val="10B981">
                  <a:alpha val="3000"/>
                </a:srgbClr>
              </a:gs>
            </a:gsLst>
            <a:lin ang="5400000" scaled="1"/>
          </a:gra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572625" y="2714625"/>
            <a:ext cx="342900" cy="342900"/>
          </a:xfrm>
          <a:prstGeom prst="rect">
            <a:avLst/>
          </a:prstGeom>
          <a:ln/>
        </p:spPr>
      </p:pic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8858250" y="3171825"/>
            <a:ext cx="17621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10B981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9315450" y="41148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全流程覆盖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8439150" y="4438650"/>
            <a:ext cx="2600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需求→设计→开发→测试→部署，端到端无断点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762000" y="65913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大赛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开课管理系统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1020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08 / 13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76" name="" descr="&lt;Slide style={{ width: 1280, height: 720, background: '#0A0E27', padding: '50px 70px 40px 70px' }}&gt;&#10;  {/* A区 */}&#10;  &lt;Box style={{ height: 80, borderLeft: '4px solid', borderImage: 'linear-gradient(180deg, #3B82F6, #10B981) 1', paddingLeft: 20, justifyContent: 'center', marginBottom: 10 }}&gt;&#10;    &lt;Box style={{ flexDirection: 'row', alignItems: 'center', gap: 12 }}&gt;&#10;      &lt;Text style={{ fontSize: 34, fontWeight: 'bold', color: '#F1F5F9' }}&gt;作品完整度与交付价值&lt;/Text&gt;&#10;      &lt;Text style={{ fontSize: 14, color: '#3B82F6' }}&gt;评分维度二 · 30分&lt;/Text&gt;&#10;    &lt;/Box&gt;&#10;  &lt;/Box&gt;&#10;&#10;  {/* B区 — 四维度 */}&#10;  &lt;Box style={{ flex: 1, gap: 14 }}&gt;&#10;    &lt;Box style={{ flexDirection: 'row', gap: 14, flex: 1 }}&gt;&#10;      {[&#10;        { icon: 'check-double', title: '业务场景覆盖', value: '14+', sub: '子模块', desc: '开课时间设置、校选课程、特殊课程、开课计划、开课安排、开课名单、通识选修、授课确认、教师替换等全场景', color: '#3B82F6' },&#10;        { icon: 'tasks', title: '功能完整度', value: '100%', sub: '核心流程', desc: '从开课计划生成→教学任务修改→分组工作台→名单管理→授课确认，完整业务闭环', color: '#8B5CF6' },&#10;      ].map((item, i) =&gt; (&#10;        &lt;Box key={i} style={{ flex: 1, background: '#131C3D', borderRadius: 14, padding: '20px 24px', borderTop: `3px solid ${item.color}`, gap: 12 }}&gt;&#10;          &lt;Box style={{ flexDirection: 'row', alignItems: 'center', gap: 10 }}&gt;&#10;            &lt;FAIcon name={item.icon} style={{ fill: item.color, width: 22, height: 22 }} /&gt;&#10;            &lt;Text style={{ fontSize: 18, fontWeight: 'bold', color: '#F1F5F9' }}&gt;{item.title}&lt;/Text&gt;&#10;          &lt;/Box&gt;&#10;          &lt;Box style={{ flexDirection: 'row', alignItems: 'baseline', gap: 4 }}&gt;&#10;            &lt;Text style={{ fontSize: 42, fontWeight: 'bold', color: item.color, lineHeight: 1 }}&gt;{item.value}&lt;/Text&gt;&#10;            &lt;Text style={{ fontSize: 16, color: '#94A3B8' }}&gt;{item.sub}&lt;/Text&gt;&#10;          &lt;/Box&gt;&#10;          &lt;Text style={{ fontSize: 13, color: '#94A3B8', lineHeight: 1.5 }}&gt;{item.desc}&lt;/Text&gt;&#10;        &lt;/Box&gt;&#10;      ))}&#10;    &lt;/Box&gt;&#10;&#10;    &lt;Box style={{ flexDirection: 'row', gap: 14, flex: 1 }}&gt;&#10;      {[&#10;        { icon: 'file-alt', title: '文档完整性', value: '3 版', sub: '格式', desc: '用户操作手册覆盖 Word / PDF / HTML 三种格式，含30张截图、14+模块操作指南、FAQ', color: '#10B981' },&#10;        { icon: 'globe-asia', title: '多项目复用', value: '2 项目', sub: '已验证', desc: '通用开课系统 + 马来XMU定制项目，三语国际化（中/英/马来），数据权限定制化适配', color: '#F59E0B' },&#10;      ].map((item, i) =&gt; (&#10;        &lt;Box key={i} style={{ flex: 1, background: '#131C3D', borderRadius: 14, padding: '20px 24px', borderTop: `3px solid ${item.color}`, gap: 12 }}&gt;&#10;          &lt;Box style={{ flexDirection: 'row', alignItems: 'center', gap: 10 }}&gt;&#10;            &lt;FAIcon name={item.icon} style={{ fill: item.color, width: 22, height: 22 }} /&gt;&#10;            &lt;Text style={{ fontSize: 18, fontWeight: 'bold', color: '#F1F5F9' }}&gt;{item.title}&lt;/Text&gt;&#10;          &lt;/Box&gt;&#10;          &lt;Box style={{ flexDirection: 'row', alignItems: 'baseline', gap: 4 }}&gt;&#10;            &lt;Text style={{ fontSize: 42, fontWeight: 'bold', color: item.color, lineHeight: 1 }}&gt;{item.value}&lt;/Text&gt;&#10;            &lt;Text style={{ fontSize: 16, color: '#94A3B8' }}&gt;{item.sub}&lt;/Text&gt;&#10;          &lt;/Box&gt;&#10;          &lt;Text style={{ fontSize: 13, color: '#94A3B8', lineHeight: 1.5 }}&gt;{item.desc}&lt;/Text&gt;&#10;        &lt;/Box&gt;&#10;      ))}&#10;    &lt;/Box&gt;&#10;  &lt;/Box&gt;&#10;&#10;  {/* C区 */}&#10;  &lt;Box style={{ height: 40, flexDirection: 'row', justifyContent: 'space-between', alignItems: 'center', marginTop: 10 }}&gt;&#10;    &lt;Text style={{ fontSize: 14, color: '#64748B' }}&gt;AI大赛 · 开课管理系统&lt;/Text&gt;&#10;    &lt;Text style={{ fontSize: 14, color: '#64748B' }}&gt;09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666750" y="476250"/>
            <a:ext cx="10896600" cy="762000"/>
          </a:xfrm>
          <a:custGeom>
            <a:pathLst>
              <a:path w="1144" h="80">
                <a:moveTo>
                  <a:pt x="0" y="0"/>
                </a:moveTo>
                <a:lnTo>
                  <a:pt x="4" y="0"/>
                </a:lnTo>
                <a:lnTo>
                  <a:pt x="4" y="80"/>
                </a:lnTo>
                <a:lnTo>
                  <a:pt x="0" y="8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10B981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95350" y="66675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作品完整度与交付价值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4248150" y="781050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B82F6"/>
                </a:solidFill>
                <a:latin typeface="Microsoft YaHei"/>
                <a:ea typeface="Microsoft YaHei"/>
              </a:rPr>
              <a:t>评分维度二</a:t>
            </a:r>
            <a:r>
              <a:rPr lang="en-US" sz="1050">
                <a:solidFill>
                  <a:srgbClr val="3B82F6"/>
                </a:solidFill>
                <a:latin typeface="Microsoft YaHei"/>
                <a:ea typeface="Microsoft YaHei"/>
              </a:rPr>
              <a:t> · 30</a:t>
            </a:r>
            <a:r>
              <a:rPr lang="zh-CN" sz="1050">
                <a:solidFill>
                  <a:srgbClr val="3B82F6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666750" y="1362075"/>
            <a:ext cx="5362575" cy="2381250"/>
          </a:xfrm>
          <a:prstGeom prst="roundRect">
            <a:avLst>
              <a:gd name="adj" fmla="val 5600"/>
            </a:avLst>
          </a:prstGeom>
          <a:solidFill>
            <a:srgbClr val="131C3D"/>
          </a:solidFill>
          <a:ln/>
        </p:spPr>
        <p:txBody>
          <a:bodyPr/>
          <a:p/>
        </p:txBody>
      </p:sp>
      <p:sp>
        <p:nvSpPr>
          <p:cNvPr id="482" name=""/>
          <p:cNvSpPr/>
          <p:nvPr/>
        </p:nvSpPr>
        <p:spPr>
          <a:xfrm rot="0" flipH="0" flipV="0">
            <a:off x="666750" y="1362075"/>
            <a:ext cx="5362575" cy="2381250"/>
          </a:xfrm>
          <a:custGeom>
            <a:pathLst>
              <a:path w="563" h="250">
                <a:moveTo>
                  <a:pt x="550" y="0"/>
                </a:moveTo>
                <a:cubicBezTo>
                  <a:pt x="556" y="0"/>
                  <a:pt x="561" y="5"/>
                  <a:pt x="563" y="11"/>
                </a:cubicBezTo>
                <a:cubicBezTo>
                  <a:pt x="561" y="6"/>
                  <a:pt x="557" y="3"/>
                  <a:pt x="552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549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4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1552575"/>
            <a:ext cx="209550" cy="209550"/>
          </a:xfrm>
          <a:prstGeom prst="rect">
            <a:avLst/>
          </a:prstGeom>
          <a:ln/>
        </p:spPr>
      </p:pic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1200150" y="15525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业务场景覆盖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95350" y="1876425"/>
            <a:ext cx="6858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3B82F6"/>
                </a:solidFill>
                <a:latin typeface="Microsoft YaHei"/>
                <a:ea typeface="Microsoft YaHei"/>
              </a:rPr>
              <a:t>14+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1619250" y="1876425"/>
            <a:ext cx="4572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子模块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95350" y="2476500"/>
            <a:ext cx="49053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开课时间设置、校选课程、特殊课程、开课计划、开课安排、开课名单、通识选修、授课确认、教师替换等全场景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6162675" y="1362075"/>
            <a:ext cx="5362575" cy="2381250"/>
          </a:xfrm>
          <a:prstGeom prst="roundRect">
            <a:avLst>
              <a:gd name="adj" fmla="val 5600"/>
            </a:avLst>
          </a:prstGeom>
          <a:solidFill>
            <a:srgbClr val="131C3D"/>
          </a:solidFill>
          <a:ln/>
        </p:spPr>
        <p:txBody>
          <a:bodyPr/>
          <a:p/>
        </p:txBody>
      </p:sp>
      <p:sp>
        <p:nvSpPr>
          <p:cNvPr id="489" name=""/>
          <p:cNvSpPr/>
          <p:nvPr/>
        </p:nvSpPr>
        <p:spPr>
          <a:xfrm rot="0" flipH="0" flipV="0">
            <a:off x="6162675" y="1362075"/>
            <a:ext cx="5362575" cy="2381250"/>
          </a:xfrm>
          <a:custGeom>
            <a:pathLst>
              <a:path w="563" h="250">
                <a:moveTo>
                  <a:pt x="550" y="0"/>
                </a:moveTo>
                <a:cubicBezTo>
                  <a:pt x="556" y="0"/>
                  <a:pt x="561" y="5"/>
                  <a:pt x="563" y="11"/>
                </a:cubicBezTo>
                <a:cubicBezTo>
                  <a:pt x="561" y="6"/>
                  <a:pt x="557" y="3"/>
                  <a:pt x="552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549" y="0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pic>
        <p:nvPicPr>
          <p:cNvPr id="4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391275" y="1552575"/>
            <a:ext cx="209550" cy="209550"/>
          </a:xfrm>
          <a:prstGeom prst="rect">
            <a:avLst/>
          </a:prstGeom>
          <a:ln/>
        </p:spPr>
      </p:pic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696075" y="15525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功能完整度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391275" y="1876425"/>
            <a:ext cx="10287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8B5CF6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7458075" y="1876425"/>
            <a:ext cx="6096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核心流程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6391275" y="2476500"/>
            <a:ext cx="49053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从开课计划生成→教学任务修改→分组工作台→名单管理→授课确认，完整业务闭环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666750" y="3876675"/>
            <a:ext cx="5362575" cy="2152650"/>
          </a:xfrm>
          <a:prstGeom prst="roundRect">
            <a:avLst>
              <a:gd name="adj" fmla="val 6195"/>
            </a:avLst>
          </a:prstGeom>
          <a:solidFill>
            <a:srgbClr val="131C3D"/>
          </a:solidFill>
          <a:ln/>
        </p:spPr>
        <p:txBody>
          <a:bodyPr/>
          <a:p/>
        </p:txBody>
      </p:sp>
      <p:sp>
        <p:nvSpPr>
          <p:cNvPr id="496" name=""/>
          <p:cNvSpPr/>
          <p:nvPr/>
        </p:nvSpPr>
        <p:spPr>
          <a:xfrm rot="0" flipH="0" flipV="0">
            <a:off x="666750" y="3876675"/>
            <a:ext cx="5362575" cy="2152650"/>
          </a:xfrm>
          <a:custGeom>
            <a:pathLst>
              <a:path w="563" h="226">
                <a:moveTo>
                  <a:pt x="550" y="0"/>
                </a:moveTo>
                <a:cubicBezTo>
                  <a:pt x="556" y="0"/>
                  <a:pt x="561" y="5"/>
                  <a:pt x="563" y="11"/>
                </a:cubicBezTo>
                <a:cubicBezTo>
                  <a:pt x="561" y="6"/>
                  <a:pt x="557" y="3"/>
                  <a:pt x="552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549" y="0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p/>
        </p:txBody>
      </p:sp>
      <p:pic>
        <p:nvPicPr>
          <p:cNvPr id="4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95350" y="4067175"/>
            <a:ext cx="209550" cy="209550"/>
          </a:xfrm>
          <a:prstGeom prst="rect">
            <a:avLst/>
          </a:prstGeom>
          <a:ln/>
        </p:spPr>
      </p:pic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1200150" y="40671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文档完整性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895350" y="4391025"/>
            <a:ext cx="74295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0B981"/>
                </a:solidFill>
                <a:latin typeface="Microsoft YaHei"/>
                <a:ea typeface="Microsoft YaHei"/>
              </a:rPr>
              <a:t>3 </a:t>
            </a:r>
            <a:r>
              <a:rPr lang="zh-CN" sz="3150" b="1">
                <a:solidFill>
                  <a:srgbClr val="10B981"/>
                </a:solidFill>
                <a:latin typeface="Microsoft YaHei"/>
                <a:ea typeface="Microsoft YaHei"/>
              </a:rPr>
              <a:t>版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1676400" y="4391025"/>
            <a:ext cx="3048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格式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895350" y="4991100"/>
            <a:ext cx="49053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用户操作手册覆盖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Word / PDF / HTML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三种格式，含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30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张截图、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14+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模块操作指南、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FAQ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6162675" y="3876675"/>
            <a:ext cx="5362575" cy="2152650"/>
          </a:xfrm>
          <a:prstGeom prst="roundRect">
            <a:avLst>
              <a:gd name="adj" fmla="val 6195"/>
            </a:avLst>
          </a:prstGeom>
          <a:solidFill>
            <a:srgbClr val="131C3D"/>
          </a:solidFill>
          <a:ln/>
        </p:spPr>
        <p:txBody>
          <a:bodyPr/>
          <a:p/>
        </p:txBody>
      </p:sp>
      <p:sp>
        <p:nvSpPr>
          <p:cNvPr id="503" name=""/>
          <p:cNvSpPr/>
          <p:nvPr/>
        </p:nvSpPr>
        <p:spPr>
          <a:xfrm rot="0" flipH="0" flipV="0">
            <a:off x="6162675" y="3876675"/>
            <a:ext cx="5362575" cy="2152650"/>
          </a:xfrm>
          <a:custGeom>
            <a:pathLst>
              <a:path w="563" h="226">
                <a:moveTo>
                  <a:pt x="550" y="0"/>
                </a:moveTo>
                <a:cubicBezTo>
                  <a:pt x="556" y="0"/>
                  <a:pt x="561" y="5"/>
                  <a:pt x="563" y="11"/>
                </a:cubicBezTo>
                <a:cubicBezTo>
                  <a:pt x="561" y="6"/>
                  <a:pt x="557" y="3"/>
                  <a:pt x="552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549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pic>
        <p:nvPicPr>
          <p:cNvPr id="5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391275" y="4067175"/>
            <a:ext cx="209550" cy="209550"/>
          </a:xfrm>
          <a:prstGeom prst="rect">
            <a:avLst/>
          </a:prstGeom>
          <a:ln/>
        </p:spPr>
      </p:pic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6696075" y="40671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多项目复用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6391275" y="4391025"/>
            <a:ext cx="11430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59E0B"/>
                </a:solidFill>
                <a:latin typeface="Microsoft YaHei"/>
                <a:ea typeface="Microsoft YaHei"/>
              </a:rPr>
              <a:t>2 </a:t>
            </a:r>
            <a:r>
              <a:rPr lang="zh-CN" sz="3150" b="1">
                <a:solidFill>
                  <a:srgbClr val="F59E0B"/>
                </a:solidFill>
                <a:latin typeface="Microsoft YaHei"/>
                <a:ea typeface="Microsoft YaHei"/>
              </a:rPr>
              <a:t>项目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7572375" y="4391025"/>
            <a:ext cx="4572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已验证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6391275" y="4991100"/>
            <a:ext cx="49053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通用开课系统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马来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XMU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定制项目，三语国际化（中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英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马来），数据权限定制化适配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大赛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开课管理系统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11115675" y="6210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09 / 13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6" name="" descr="&lt;Slide style={{ width: 1280, height: 720, background: '#0A0E27', padding: '50px 70px 40px 70px' }}&gt;&#10;  {/* A区 */}&#10;  &lt;Box style={{ height: 80, borderLeft: '4px solid', borderImage: 'linear-gradient(180deg, #8B5CF6, #06B6D4) 1', paddingLeft: 20, justifyContent: 'center', marginBottom: 10 }}&gt;&#10;    &lt;Box style={{ flexDirection: 'row', alignItems: 'center', gap: 12 }}&gt;&#10;      &lt;Text style={{ fontSize: 34, fontWeight: 'bold', color: '#F1F5F9' }}&gt;沉淀资产价值&lt;/Text&gt;&#10;      &lt;Text style={{ fontSize: 14, color: '#8B5CF6' }}&gt;评分维度三 · 15分加分&lt;/Text&gt;&#10;    &lt;/Box&gt;&#10;  &lt;/Box&gt;&#10;&#10;  {/* B区 非对称双栏 */}&#10;  &lt;Box style={{ flex: 1, flexDirection: 'row', gap: 24 }}&gt;&#10;    {/* 左 60% Skill清单 */}&#10;    &lt;Box style={{ flex: 3, gap: 14 }}&gt;&#10;      &lt;Text style={{ fontSize: 18, fontWeight: 'bold', color: '#8B5CF6' }}&gt;可复用 AI Skill 资产库&lt;/Text&gt;&#10;      &lt;Box style={{ flexDirection: 'row', gap: 12, flexWrap: 'wrap' }}&gt;&#10;        {[&#10;          { icon: 'database', label: 'MySQL数据库设计', color: '#3B82F6' },&#10;          { icon: 'code', label: 'RESTful API生成', color: '#06B6D4' },&#10;          { icon: 'react', label: 'React组件开发', color: '#8B5CF6' },&#10;          { icon: 'vial', label: '自动化测试', color: '#10B981' },&#10;          { icon: 'language', label: '三语国际化', color: '#F59E0B' },&#10;          { icon: 'lock', label: 'RBAC权限控制', color: '#EF4444' },&#10;          { icon: 'sign-in-alt', label: 'JWT登录校验', color: '#3B82F6' },&#10;          { icon: 'history', label: '操作日志追踪', color: '#8B5CF6' },&#10;          { icon: 'file-alt', label: 'PRD文档生成', color: '#06B6D4' },&#10;          { icon: 'book', label: '用户手册生成', color: '#10B981' },&#10;          { icon: 'desktop', label: '原型→前端转换', color: '#F59E0B' },&#10;          { icon: 'tasks', label: '任务拆解编排', color: '#3B82F6' },&#10;        ].map((skill, i) =&gt; (&#10;          &lt;Box key={i} style={{&#10;            width: '30%', background: 'rgba(139,92,246,0.06)',&#10;            borderRadius: 10, padding: '12px 14px',&#10;            flexDirection: 'row', alignItems: 'center', gap: 10,&#10;            border: `1px solid rgba(${skill.color === '#3B82F6' ? '59,130,246' : skill.color === '#06B6D4' ? '6,182,212' : skill.color === '#8B5CF6' ? '139,92,246' : skill.color === '#10B981' ? '16,185,129' : skill.color === '#F59E0B' ? '245,158,11' : '239,68,68'},0.12)`,&#10;          }}&gt;&#10;            &lt;FAIcon name={skill.icon} style={{ fill: skill.color, width: 18, height: 18 }} /&gt;&#10;            &lt;Text style={{ fontSize: 13, color: '#E2E8F0', fontWeight: 'bold' }}&gt;{skill.label}&lt;/Text&gt;&#10;          &lt;/Box&gt;&#10;        ))}&#10;      &lt;/Box&gt;&#10;    &lt;/Box&gt;&#10;&#10;    {/* 右40% 价值 */}&#10;    &lt;Box style={{ flex: 2, gap: 14, justifyContent: 'center' }}&gt;&#10;      &lt;Box style={{ background: 'linear-gradient(180deg, rgba(139,92,246,0.1) 0%, transparent 100%)', borderRadius: 14, padding: '20px 24px', border: '1px solid rgba(139,92,246,0.2)', gap: 10, alignItems: 'center' }}&gt;&#10;        &lt;FAIcon name='sync-alt' style={{ fill: '#8B5CF6', width: 28, height: 28 }} /&gt;&#10;        &lt;Text style={{ fontSize: 18, fontWeight: 'bold', color: '#F1F5F9', textAlign: 'center' }}&gt;跨项目复用&lt;/Text&gt;&#10;        &lt;Text style={{ fontSize: 13, color: '#94A3B8', textAlign: 'center', lineHeight: 1.6 }}&gt;&#10;          通用开课系统 → 马来XMU定制项目，Skill直接复用，仅需少量项目级配置调整&#10;        &lt;/Text&gt;&#10;      &lt;/Box&gt;&#10;&#10;      &lt;Box style={{ background: 'linear-gradient(180deg, rgba(6,182,212,0.1) 0%, transparent 100%)', borderRadius: 14, padding: '20px 24px', border: '1px solid rgba(6,182,212,0.2)', gap: 10, alignItems: 'center' }}&gt;&#10;        &lt;FAIcon name='plug' style={{ fill: '#06B6D4', width: 28, height: 28 }} /&gt;&#10;        &lt;Text style={{ fontSize: 18, fontWeight: 'bold', color: '#F1F5F9', textAlign: 'center' }}&gt;即插即用&lt;/Text&gt;&#10;        &lt;Text style={{ fontSize: 13, color: '#94A3B8', textAlign: 'center', lineHeight: 1.6 }}&gt;&#10;          每个Skill独立封装，Agent自动按需调度，新项目可快速搭建开发框架&#10;        &lt;/Text&gt;&#10;      &lt;/Box&gt;&#10;&#10;      &lt;Box style={{ background: 'linear-gradient(180deg, rgba(16,185,129,0.1) 0%, transparent 100%)', borderRadius: 14, padding: '20px 24px', border: '1px solid rgba(16,185,129,0.2)', gap: 10, alignItems: 'center' }}&gt;&#10;        &lt;FAIcon name='users' style={{ fill: '#10B981', width: 28, height: 28 }} /&gt;&#10;        &lt;Text style={{ fontSize: 18, fontWeight: 'bold', color: '#F1F5F9', textAlign: 'center' }}&gt;团队赋能&lt;/Text&gt;&#10;        &lt;Text style={{ fontSize: 13, color: '#94A3B8', textAlign: 'center', lineHeight: 1.6 }}&gt;&#10;          Agent调度技巧文档 + Skill清单，团队成员可快速掌握AI辅助开发模式&#10;        &lt;/Text&gt;&#10;      &lt;/Box&gt;&#10;    &lt;/Box&gt;&#10;  &lt;/Box&gt;&#10;&#10;  {/* C区 */}&#10;  &lt;Box style={{ height: 40, flexDirection: 'row', justifyContent: 'space-between', alignItems: 'center', marginTop: 10 }}&gt;&#10;    &lt;Text style={{ fontSize: 14, color: '#64748B' }}&gt;AI大赛 · 开课管理系统&lt;/Text&gt;&#10;    &lt;Text style={{ fontSize: 14, color: '#64748B' }}&gt;10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666750" y="476250"/>
            <a:ext cx="10896600" cy="762000"/>
          </a:xfrm>
          <a:custGeom>
            <a:pathLst>
              <a:path w="1144" h="80">
                <a:moveTo>
                  <a:pt x="0" y="0"/>
                </a:moveTo>
                <a:lnTo>
                  <a:pt x="4" y="0"/>
                </a:lnTo>
                <a:lnTo>
                  <a:pt x="4" y="80"/>
                </a:lnTo>
                <a:lnTo>
                  <a:pt x="0" y="80"/>
                </a:lnTo>
                <a:close/>
              </a:path>
            </a:pathLst>
          </a:custGeom>
          <a:gradFill>
            <a:gsLst>
              <a:gs pos="0">
                <a:srgbClr val="8B5CF6"/>
              </a:gs>
              <a:gs pos="100000">
                <a:srgbClr val="06B6D4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95350" y="66675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沉淀资产价值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952750" y="781050"/>
            <a:ext cx="1343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5CF6"/>
                </a:solidFill>
                <a:latin typeface="Microsoft YaHei"/>
                <a:ea typeface="Microsoft YaHei"/>
              </a:rPr>
              <a:t>评分维度三</a:t>
            </a:r>
            <a:r>
              <a:rPr lang="en-US" sz="1050">
                <a:solidFill>
                  <a:srgbClr val="8B5CF6"/>
                </a:solidFill>
                <a:latin typeface="Microsoft YaHei"/>
                <a:ea typeface="Microsoft YaHei"/>
              </a:rPr>
              <a:t> · 15</a:t>
            </a:r>
            <a:r>
              <a:rPr lang="zh-CN" sz="1050">
                <a:solidFill>
                  <a:srgbClr val="8B5CF6"/>
                </a:solidFill>
                <a:latin typeface="Microsoft YaHei"/>
                <a:ea typeface="Microsoft YaHei"/>
              </a:rPr>
              <a:t>分加分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66750" y="1333500"/>
            <a:ext cx="638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B5CF6"/>
                </a:solidFill>
                <a:latin typeface="Microsoft YaHei"/>
                <a:ea typeface="Microsoft YaHei"/>
              </a:rPr>
              <a:t>可复用</a:t>
            </a:r>
            <a:r>
              <a:rPr lang="en-US" sz="1350" b="1">
                <a:solidFill>
                  <a:srgbClr val="8B5CF6"/>
                </a:solidFill>
                <a:latin typeface="Microsoft YaHei"/>
                <a:ea typeface="Microsoft YaHei"/>
              </a:rPr>
              <a:t> AI Skill </a:t>
            </a:r>
            <a:r>
              <a:rPr lang="zh-CN" sz="1350" b="1">
                <a:solidFill>
                  <a:srgbClr val="8B5CF6"/>
                </a:solidFill>
                <a:latin typeface="Microsoft YaHei"/>
                <a:ea typeface="Microsoft YaHei"/>
              </a:rPr>
              <a:t>资产库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66750" y="1676400"/>
            <a:ext cx="1914525" cy="400050"/>
          </a:xfrm>
          <a:prstGeom prst="roundRect">
            <a:avLst>
              <a:gd name="adj" fmla="val 23810"/>
            </a:avLst>
          </a:prstGeom>
          <a:solidFill>
            <a:srgbClr val="8B5CF6">
              <a:alpha val="6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790700"/>
            <a:ext cx="171450" cy="171450"/>
          </a:xfrm>
          <a:prstGeom prst="rect">
            <a:avLst/>
          </a:prstGeom>
          <a:ln/>
        </p:spPr>
      </p:pic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066800" y="1800225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2E8F0"/>
                </a:solidFill>
                <a:latin typeface="Microsoft YaHei"/>
                <a:ea typeface="Microsoft YaHei"/>
              </a:rPr>
              <a:t>MySQL</a:t>
            </a:r>
            <a:r>
              <a:rPr lang="zh-CN" sz="975" b="1">
                <a:solidFill>
                  <a:srgbClr val="E2E8F0"/>
                </a:solidFill>
                <a:latin typeface="Microsoft YaHei"/>
                <a:ea typeface="Microsoft YaHei"/>
              </a:rPr>
              <a:t>数据库设计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2695575" y="1676400"/>
            <a:ext cx="1914525" cy="400050"/>
          </a:xfrm>
          <a:prstGeom prst="roundRect">
            <a:avLst>
              <a:gd name="adj" fmla="val 23810"/>
            </a:avLst>
          </a:prstGeom>
          <a:solidFill>
            <a:srgbClr val="8B5CF6">
              <a:alpha val="6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828925" y="1790700"/>
            <a:ext cx="171450" cy="171450"/>
          </a:xfrm>
          <a:prstGeom prst="rect">
            <a:avLst/>
          </a:prstGeom>
          <a:ln/>
        </p:spPr>
      </p:pic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095625" y="1800225"/>
            <a:ext cx="971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2E8F0"/>
                </a:solidFill>
                <a:latin typeface="Microsoft YaHei"/>
                <a:ea typeface="Microsoft YaHei"/>
              </a:rPr>
              <a:t>RESTful API</a:t>
            </a:r>
            <a:r>
              <a:rPr lang="zh-CN" sz="975" b="1">
                <a:solidFill>
                  <a:srgbClr val="E2E8F0"/>
                </a:solidFill>
                <a:latin typeface="Microsoft YaHei"/>
                <a:ea typeface="Microsoft YaHei"/>
              </a:rPr>
              <a:t>生成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4724400" y="1676400"/>
            <a:ext cx="1914525" cy="400050"/>
          </a:xfrm>
          <a:prstGeom prst="roundRect">
            <a:avLst>
              <a:gd name="adj" fmla="val 23810"/>
            </a:avLst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857750" y="1790700"/>
            <a:ext cx="171450" cy="171450"/>
          </a:xfrm>
          <a:prstGeom prst="rect">
            <a:avLst/>
          </a:prstGeom>
          <a:ln/>
        </p:spPr>
      </p:pic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124450" y="1800225"/>
            <a:ext cx="83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2E8F0"/>
                </a:solidFill>
                <a:latin typeface="Microsoft YaHei"/>
                <a:ea typeface="Microsoft YaHei"/>
              </a:rPr>
              <a:t>React</a:t>
            </a:r>
            <a:r>
              <a:rPr lang="zh-CN" sz="975" b="1">
                <a:solidFill>
                  <a:srgbClr val="E2E8F0"/>
                </a:solidFill>
                <a:latin typeface="Microsoft YaHei"/>
                <a:ea typeface="Microsoft YaHei"/>
              </a:rPr>
              <a:t>组件开发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66750" y="2190750"/>
            <a:ext cx="1914525" cy="400050"/>
          </a:xfrm>
          <a:prstGeom prst="roundRect">
            <a:avLst>
              <a:gd name="adj" fmla="val 23810"/>
            </a:avLst>
          </a:prstGeom>
          <a:solidFill>
            <a:srgbClr val="8B5CF6">
              <a:alpha val="6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00100" y="2305050"/>
            <a:ext cx="171450" cy="171450"/>
          </a:xfrm>
          <a:prstGeom prst="rect">
            <a:avLst/>
          </a:prstGeom>
          <a:ln/>
        </p:spPr>
      </p:pic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066800" y="23145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2E8F0"/>
                </a:solidFill>
                <a:latin typeface="Microsoft YaHei"/>
                <a:ea typeface="Microsoft YaHei"/>
              </a:rPr>
              <a:t>自动化测试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2695575" y="2190750"/>
            <a:ext cx="1914525" cy="400050"/>
          </a:xfrm>
          <a:prstGeom prst="roundRect">
            <a:avLst>
              <a:gd name="adj" fmla="val 23810"/>
            </a:avLst>
          </a:prstGeom>
          <a:solidFill>
            <a:srgbClr val="8B5CF6">
              <a:alpha val="6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2828925" y="2305050"/>
            <a:ext cx="171450" cy="171450"/>
          </a:xfrm>
          <a:prstGeom prst="rect">
            <a:avLst/>
          </a:prstGeom>
          <a:ln/>
        </p:spPr>
      </p:pic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3095625" y="23145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2E8F0"/>
                </a:solidFill>
                <a:latin typeface="Microsoft YaHei"/>
                <a:ea typeface="Microsoft YaHei"/>
              </a:rPr>
              <a:t>三语国际化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724400" y="2190750"/>
            <a:ext cx="1914525" cy="400050"/>
          </a:xfrm>
          <a:prstGeom prst="roundRect">
            <a:avLst>
              <a:gd name="adj" fmla="val 23810"/>
            </a:avLst>
          </a:prstGeom>
          <a:solidFill>
            <a:srgbClr val="8B5CF6">
              <a:alpha val="6000"/>
            </a:srgbClr>
          </a:solidFill>
          <a:ln w="12700">
            <a:solidFill>
              <a:srgbClr val="EF4444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4857750" y="2305050"/>
            <a:ext cx="171450" cy="171450"/>
          </a:xfrm>
          <a:prstGeom prst="rect">
            <a:avLst/>
          </a:prstGeom>
          <a:ln/>
        </p:spPr>
      </p:pic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124450" y="2314575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2E8F0"/>
                </a:solidFill>
                <a:latin typeface="Microsoft YaHei"/>
                <a:ea typeface="Microsoft YaHei"/>
              </a:rPr>
              <a:t>RBAC</a:t>
            </a:r>
            <a:r>
              <a:rPr lang="zh-CN" sz="975" b="1">
                <a:solidFill>
                  <a:srgbClr val="E2E8F0"/>
                </a:solidFill>
                <a:latin typeface="Microsoft YaHei"/>
                <a:ea typeface="Microsoft YaHei"/>
              </a:rPr>
              <a:t>权限控制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66750" y="2705100"/>
            <a:ext cx="1914525" cy="400050"/>
          </a:xfrm>
          <a:prstGeom prst="roundRect">
            <a:avLst>
              <a:gd name="adj" fmla="val 23810"/>
            </a:avLst>
          </a:prstGeom>
          <a:solidFill>
            <a:srgbClr val="8B5CF6">
              <a:alpha val="6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800100" y="2819400"/>
            <a:ext cx="171450" cy="171450"/>
          </a:xfrm>
          <a:prstGeom prst="rect">
            <a:avLst/>
          </a:prstGeom>
          <a:ln/>
        </p:spPr>
      </p:pic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066800" y="2828925"/>
            <a:ext cx="76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2E8F0"/>
                </a:solidFill>
                <a:latin typeface="Microsoft YaHei"/>
                <a:ea typeface="Microsoft YaHei"/>
              </a:rPr>
              <a:t>JWT</a:t>
            </a:r>
            <a:r>
              <a:rPr lang="zh-CN" sz="975" b="1">
                <a:solidFill>
                  <a:srgbClr val="E2E8F0"/>
                </a:solidFill>
                <a:latin typeface="Microsoft YaHei"/>
                <a:ea typeface="Microsoft YaHei"/>
              </a:rPr>
              <a:t>登录校验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2695575" y="2705100"/>
            <a:ext cx="1914525" cy="400050"/>
          </a:xfrm>
          <a:prstGeom prst="roundRect">
            <a:avLst>
              <a:gd name="adj" fmla="val 23810"/>
            </a:avLst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2828925" y="2819400"/>
            <a:ext cx="171450" cy="171450"/>
          </a:xfrm>
          <a:prstGeom prst="rect">
            <a:avLst/>
          </a:prstGeom>
          <a:ln/>
        </p:spPr>
      </p:pic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095625" y="282892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2E8F0"/>
                </a:solidFill>
                <a:latin typeface="Microsoft YaHei"/>
                <a:ea typeface="Microsoft YaHei"/>
              </a:rPr>
              <a:t>操作日志追踪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4724400" y="2705100"/>
            <a:ext cx="1914525" cy="400050"/>
          </a:xfrm>
          <a:prstGeom prst="roundRect">
            <a:avLst>
              <a:gd name="adj" fmla="val 23810"/>
            </a:avLst>
          </a:prstGeom>
          <a:solidFill>
            <a:srgbClr val="8B5CF6">
              <a:alpha val="6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0" flipV="0">
            <a:off x="4857750" y="2819400"/>
            <a:ext cx="171450" cy="171450"/>
          </a:xfrm>
          <a:prstGeom prst="rect">
            <a:avLst/>
          </a:prstGeom>
          <a:ln/>
        </p:spPr>
      </p:pic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124450" y="2828925"/>
            <a:ext cx="76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2E8F0"/>
                </a:solidFill>
                <a:latin typeface="Microsoft YaHei"/>
                <a:ea typeface="Microsoft YaHei"/>
              </a:rPr>
              <a:t>PRD</a:t>
            </a:r>
            <a:r>
              <a:rPr lang="zh-CN" sz="975" b="1">
                <a:solidFill>
                  <a:srgbClr val="E2E8F0"/>
                </a:solidFill>
                <a:latin typeface="Microsoft YaHei"/>
                <a:ea typeface="Microsoft YaHei"/>
              </a:rPr>
              <a:t>文档生成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66750" y="3219450"/>
            <a:ext cx="1914525" cy="400050"/>
          </a:xfrm>
          <a:prstGeom prst="roundRect">
            <a:avLst>
              <a:gd name="adj" fmla="val 23810"/>
            </a:avLst>
          </a:prstGeom>
          <a:solidFill>
            <a:srgbClr val="8B5CF6">
              <a:alpha val="6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 rot="0" flipH="0" flipV="0">
            <a:off x="800100" y="3333750"/>
            <a:ext cx="171450" cy="171450"/>
          </a:xfrm>
          <a:prstGeom prst="rect">
            <a:avLst/>
          </a:prstGeom>
          <a:ln/>
        </p:spPr>
      </p:pic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066800" y="334327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2E8F0"/>
                </a:solidFill>
                <a:latin typeface="Microsoft YaHei"/>
                <a:ea typeface="Microsoft YaHei"/>
              </a:rPr>
              <a:t>用户手册生成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2695575" y="3219450"/>
            <a:ext cx="1914525" cy="400050"/>
          </a:xfrm>
          <a:prstGeom prst="roundRect">
            <a:avLst>
              <a:gd name="adj" fmla="val 23810"/>
            </a:avLst>
          </a:prstGeom>
          <a:solidFill>
            <a:srgbClr val="8B5CF6">
              <a:alpha val="6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 rot="0" flipH="0" flipV="0">
            <a:off x="2828925" y="3333750"/>
            <a:ext cx="171450" cy="171450"/>
          </a:xfrm>
          <a:prstGeom prst="rect">
            <a:avLst/>
          </a:prstGeom>
          <a:ln/>
        </p:spPr>
      </p:pic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095625" y="334327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2E8F0"/>
                </a:solidFill>
                <a:latin typeface="Microsoft YaHei"/>
                <a:ea typeface="Microsoft YaHei"/>
              </a:rPr>
              <a:t>原型→前端转换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4724400" y="3219450"/>
            <a:ext cx="1914525" cy="400050"/>
          </a:xfrm>
          <a:prstGeom prst="roundRect">
            <a:avLst>
              <a:gd name="adj" fmla="val 23810"/>
            </a:avLst>
          </a:prstGeom>
          <a:solidFill>
            <a:srgbClr val="8B5CF6">
              <a:alpha val="6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2"/>
              </a:ext>
            </a:extLst>
          </a:blip>
          <a:stretch>
            <a:fillRect/>
          </a:stretch>
        </p:blipFill>
        <p:spPr>
          <a:xfrm rot="0" flipH="0" flipV="0">
            <a:off x="4857750" y="3333750"/>
            <a:ext cx="171450" cy="171450"/>
          </a:xfrm>
          <a:prstGeom prst="rect">
            <a:avLst/>
          </a:prstGeom>
          <a:ln/>
        </p:spPr>
      </p:pic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124450" y="334327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2E8F0"/>
                </a:solidFill>
                <a:latin typeface="Microsoft YaHei"/>
                <a:ea typeface="Microsoft YaHei"/>
              </a:rPr>
              <a:t>任务拆解编排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7277100" y="1485900"/>
            <a:ext cx="4248150" cy="1524000"/>
          </a:xfrm>
          <a:prstGeom prst="roundRect">
            <a:avLst>
              <a:gd name="adj" fmla="val 8750"/>
            </a:avLst>
          </a:prstGeom>
          <a:gradFill>
            <a:gsLst>
              <a:gs pos="0">
                <a:srgbClr val="8B5CF6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 w="12700">
            <a:solidFill>
              <a:srgbClr val="8B5CF6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3"/>
              </a:ext>
            </a:extLst>
          </a:blip>
          <a:stretch>
            <a:fillRect/>
          </a:stretch>
        </p:blipFill>
        <p:spPr>
          <a:xfrm rot="0" flipH="0" flipV="0">
            <a:off x="9267825" y="1676400"/>
            <a:ext cx="266700" cy="266700"/>
          </a:xfrm>
          <a:prstGeom prst="rect">
            <a:avLst/>
          </a:prstGeom>
          <a:ln/>
        </p:spPr>
      </p:pic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972550" y="2038350"/>
            <a:ext cx="8572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跨项目复用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505700" y="2343150"/>
            <a:ext cx="3790950" cy="4762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通用开课系统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马来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XMU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定制项目，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Skill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直接复用，仅需少量项目级配置调整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7277100" y="3143250"/>
            <a:ext cx="4248150" cy="1285875"/>
          </a:xfrm>
          <a:prstGeom prst="roundRect">
            <a:avLst>
              <a:gd name="adj" fmla="val 10370"/>
            </a:avLst>
          </a:prstGeom>
          <a:gradFill>
            <a:gsLst>
              <a:gs pos="0">
                <a:srgbClr val="06B6D4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4"/>
              </a:ext>
            </a:extLst>
          </a:blip>
          <a:stretch>
            <a:fillRect/>
          </a:stretch>
        </p:blipFill>
        <p:spPr>
          <a:xfrm rot="0" flipH="0" flipV="0">
            <a:off x="9267825" y="3333750"/>
            <a:ext cx="266700" cy="266700"/>
          </a:xfrm>
          <a:prstGeom prst="rect">
            <a:avLst/>
          </a:prstGeom>
          <a:ln/>
        </p:spPr>
      </p:pic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058275" y="3695700"/>
            <a:ext cx="68580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即插即用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515225" y="4000500"/>
            <a:ext cx="3771900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每个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Skill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独立封装，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Agent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自动按需调度，新项目可快速搭建开发框架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7277100" y="4562475"/>
            <a:ext cx="4248150" cy="1285875"/>
          </a:xfrm>
          <a:prstGeom prst="roundRect">
            <a:avLst>
              <a:gd name="adj" fmla="val 10370"/>
            </a:avLst>
          </a:prstGeom>
          <a:gradFill>
            <a:gsLst>
              <a:gs pos="0">
                <a:srgbClr val="10B981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5"/>
              </a:ext>
            </a:extLst>
          </a:blip>
          <a:stretch>
            <a:fillRect/>
          </a:stretch>
        </p:blipFill>
        <p:spPr>
          <a:xfrm rot="0" flipH="0" flipV="0">
            <a:off x="9267825" y="4752975"/>
            <a:ext cx="266700" cy="266700"/>
          </a:xfrm>
          <a:prstGeom prst="rect">
            <a:avLst/>
          </a:prstGeom>
          <a:ln/>
        </p:spPr>
      </p:pic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9058275" y="5114925"/>
            <a:ext cx="68580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团队赋能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515225" y="5419725"/>
            <a:ext cx="3781425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Agent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调度技巧文档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+ Skill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清单，团队成员可快速掌握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辅助开发模式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大赛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开课管理系统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1115675" y="6210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10 / 13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2" name="" descr="&lt;Slide style={{ width: 1280, height: 720, background: '#0A0E27', padding: '50px 70px 40px 70px' }}&gt;&#10;  {/* A区 */}&#10;  &lt;Box style={{ height: 80, borderLeft: '4px solid', borderImage: `linear-gradient(180deg, '#10B981', '#3B82F6') 1`, paddingLeft: 20, justifyContent: 'center', marginBottom: 10 }}&gt;&#10;    &lt;Box style={{ flexDirection: 'row', alignItems: 'center', gap: 12 }}&gt;&#10;      &lt;Text style={{ fontSize: 34, fontWeight: 'bold', color: '#F1F5F9' }}&gt;自动化工程能力&lt;/Text&gt;&#10;      &lt;Text style={{ fontSize: 14, color: '#10B981' }}&gt;评分维度四 · 10分加分&lt;/Text&gt;&#10;    &lt;/Box&gt;&#10;  &lt;/Box&gt;&#10;&#10;  {/* B区 上下分栏 */}&#10;  &lt;Box style={{ flex: 1, gap: 16 }}&gt;&#10;    {/* 上半部 50% — 部署流程 */}&#10;    &lt;Box style={{ flex: 3, background: '#131C3D', borderRadius: 14, padding: '24px', gap: 16 }}&gt;&#10;      &lt;Text style={{ fontSize: 20, fontWeight: 'bold', color: '#10B981' }}&gt;一键部署 &amp; 持续交付流水线&lt;/Text&gt;&#10;&#10;      &lt;Box style={{ flexDirection: 'row', gap: 12, alignItems: 'center' }}&gt;&#10;        {[&#10;          { icon: 'code-branch', label: '代码\n提交', color: '#3B82F6' },&#10;          { icon: 'cogs', label: '自动\n构建', color: '#8B5CF6' },&#10;          { icon: 'vial', label: '自动\n测试', color: '#06B6D4' },&#10;          { icon: 'rocket', label: '一键\n部署', color: '#10B981' },&#10;          { icon: 'check-circle', label: '交付\n就绪', color: '#F59E0B' },&#10;        ].map((step, i) =&gt; (&#10;          &lt;Box key={i} style={{ flex: 1, alignItems: 'center', gap: 6 }}&gt;&#10;            &lt;Box style={{ width: 56, height: 56, borderRadius: 28, background: `rgba(${i === 0 ? '59,130,246' : i === 1 ? '139,92,246' : i === 2 ? '6,182,212' : i === 3 ? '16,185,129' : '245,158,11'},0.12)`, justifyContent: 'center', alignItems: 'center', border: `2px solid ${step.color}40` }}&gt;&#10;              &lt;FAIcon name={step.icon} style={{ fill: step.color, width: 24, height: 24 }} /&gt;&#10;            &lt;/Box&gt;&#10;            &lt;Text style={{ fontSize: 11, color: '#94A3B8', textAlign: 'center', whiteSpace: 'pre-line' }}&gt;{step.label}&lt;/Text&gt;&#10;          &lt;/Box&gt;&#10;        ))}&#10;      &lt;/Box&gt;&#10;&#10;      &lt;Text style={{ fontSize: 14, color: '#94A3B8', lineHeight: 1.6 }}&gt;&#10;        AI Agent 完成代码后自动触发构建流水线 → 运行全量测试 → 输出测试报告 → 环境一键部署。&#10;        全程无需人工介入，从代码提交到生产就绪仅需数分钟。&#10;      &lt;/Text&gt;&#10;    &lt;/Box&gt;&#10;&#10;    {/* 下半部 50% — 交付物 */}&#10;    &lt;Box style={{ flex: 2, flexDirection: 'row', gap: 14 }}&gt;&#10;      {[&#10;        { icon: 'file-code', title: '完整源码', desc: '前端 + 后端 + 数据库脚本全部由AI生成并验证', color: '#3B82F6' },&#10;        { icon: 'file-alt', title: 'PRD文档', desc: '产品需求文档含功能清单、字段说明、业务规则', color: '#8B5CF6' },&#10;        { icon: 'book', title: '操作手册', desc: 'Word/PDF/HTML 三版用户操作手册含截图', color: '#10B981' },&#10;      ].map((item, i) =&gt; (&#10;        &lt;Box key={i} style={{ flex: 1, background: 'rgba(16,185,129,0.04)', borderRadius: 12, padding: '18px 20px', border: `1px solid rgba(${item.color === '#3B82F6' ? '59,130,246' : item.color === '#8B5CF6' ? '139,92,246' : '16,185,129'},0.15)`, gap: 10, alignItems: 'center', justifyContent: 'center' }}&gt;&#10;          &lt;FAIcon name={item.icon} style={{ fill: item.color, width: 28, height: 28 }} /&gt;&#10;          &lt;Text style={{ fontSize: 16, fontWeight: 'bold', color: '#F1F5F9', textAlign: 'center' }}&gt;{item.title}&lt;/Text&gt;&#10;          &lt;Text style={{ fontSize: 12, color: '#94A3B8', textAlign: 'center', lineHeight: 1.5 }}&gt;{item.desc}&lt;/Text&gt;&#10;        &lt;/Box&gt;&#10;      ))}&#10;    &lt;/Box&gt;&#10;  &lt;/Box&gt;&#10;&#10;  {/* C区 */}&#10;  &lt;Box style={{ height: 40, flexDirection: 'row', justifyContent: 'space-between', alignItems: 'center', marginTop: 10 }}&gt;&#10;    &lt;Text style={{ fontSize: 14, color: '#64748B' }}&gt;AI大赛 · 开课管理系统&lt;/Text&gt;&#10;    &lt;Text style={{ fontSize: 14, color: '#64748B' }}&gt;11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666750" y="476250"/>
            <a:ext cx="10896600" cy="762000"/>
          </a:xfrm>
          <a:custGeom>
            <a:pathLst>
              <a:path w="1144" h="80">
                <a:moveTo>
                  <a:pt x="0" y="0"/>
                </a:moveTo>
                <a:lnTo>
                  <a:pt x="4" y="0"/>
                </a:lnTo>
                <a:lnTo>
                  <a:pt x="4" y="80"/>
                </a:lnTo>
                <a:lnTo>
                  <a:pt x="0" y="80"/>
                </a:lnTo>
                <a:close/>
              </a:path>
            </a:pathLst>
          </a:custGeom>
          <a:gradFill>
            <a:gsLst>
              <a:gs pos="0">
                <a:srgbClr val="0010B9"/>
              </a:gs>
              <a:gs pos="100000">
                <a:srgbClr val="003B82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95350" y="66675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自动化工程能力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276600" y="781050"/>
            <a:ext cx="1343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0B981"/>
                </a:solidFill>
                <a:latin typeface="Microsoft YaHei"/>
                <a:ea typeface="Microsoft YaHei"/>
              </a:rPr>
              <a:t>评分维度四</a:t>
            </a:r>
            <a:r>
              <a:rPr lang="en-US" sz="1050">
                <a:solidFill>
                  <a:srgbClr val="10B981"/>
                </a:solidFill>
                <a:latin typeface="Microsoft YaHei"/>
                <a:ea typeface="Microsoft YaHei"/>
              </a:rPr>
              <a:t> · 10</a:t>
            </a:r>
            <a:r>
              <a:rPr lang="zh-CN" sz="1050">
                <a:solidFill>
                  <a:srgbClr val="10B981"/>
                </a:solidFill>
                <a:latin typeface="Microsoft YaHei"/>
                <a:ea typeface="Microsoft YaHei"/>
              </a:rPr>
              <a:t>分加分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66750" y="1333500"/>
            <a:ext cx="10858500" cy="2828925"/>
          </a:xfrm>
          <a:prstGeom prst="roundRect">
            <a:avLst>
              <a:gd name="adj" fmla="val 4714"/>
            </a:avLst>
          </a:prstGeom>
          <a:solidFill>
            <a:srgbClr val="131C3D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95350" y="1562100"/>
            <a:ext cx="10401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0B981"/>
                </a:solidFill>
                <a:latin typeface="Microsoft YaHei"/>
                <a:ea typeface="Microsoft YaHei"/>
              </a:rPr>
              <a:t>一键部署</a:t>
            </a:r>
            <a:r>
              <a:rPr lang="en-US" sz="1500" b="1">
                <a:solidFill>
                  <a:srgbClr val="10B981"/>
                </a:solidFill>
                <a:latin typeface="Microsoft YaHei"/>
                <a:ea typeface="Microsoft YaHei"/>
              </a:rPr>
              <a:t> &amp; </a:t>
            </a:r>
            <a:r>
              <a:rPr lang="zh-CN" sz="1500" b="1">
                <a:solidFill>
                  <a:srgbClr val="10B981"/>
                </a:solidFill>
                <a:latin typeface="Microsoft YaHei"/>
                <a:ea typeface="Microsoft YaHei"/>
              </a:rPr>
              <a:t>持续交付流水线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1628775" y="1943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>
                <a:alpha val="25098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781175" y="2095500"/>
            <a:ext cx="228600" cy="228600"/>
          </a:xfrm>
          <a:prstGeom prst="rect">
            <a:avLst/>
          </a:prstGeom>
          <a:ln/>
        </p:spPr>
      </p:pic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790700" y="2533650"/>
            <a:ext cx="2095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代码
提交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3733800" y="1943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8B5CF6">
              <a:alpha val="12000"/>
            </a:srgbClr>
          </a:solidFill>
          <a:ln w="25400">
            <a:solidFill>
              <a:srgbClr val="8B5CF6">
                <a:alpha val="25098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886200" y="2095500"/>
            <a:ext cx="228600" cy="228600"/>
          </a:xfrm>
          <a:prstGeom prst="rect">
            <a:avLst/>
          </a:prstGeom>
          <a:ln/>
        </p:spPr>
      </p:pic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895725" y="2533650"/>
            <a:ext cx="2095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自动
构建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5829300" y="1943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6B6D4">
              <a:alpha val="12000"/>
            </a:srgbClr>
          </a:solidFill>
          <a:ln w="25400">
            <a:solidFill>
              <a:srgbClr val="06B6D4">
                <a:alpha val="25098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981700" y="2095500"/>
            <a:ext cx="228600" cy="228600"/>
          </a:xfrm>
          <a:prstGeom prst="rect">
            <a:avLst/>
          </a:prstGeom>
          <a:ln/>
        </p:spPr>
      </p:pic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991225" y="2533650"/>
            <a:ext cx="2095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自动
测试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7934325" y="1943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 w="25400">
            <a:solidFill>
              <a:srgbClr val="10B981">
                <a:alpha val="25098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086725" y="2095500"/>
            <a:ext cx="228600" cy="228600"/>
          </a:xfrm>
          <a:prstGeom prst="rect">
            <a:avLst/>
          </a:prstGeom>
          <a:ln/>
        </p:spPr>
      </p:pic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096250" y="2533650"/>
            <a:ext cx="2095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一键
部署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10039350" y="1943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25400">
            <a:solidFill>
              <a:srgbClr val="F59E0B">
                <a:alpha val="25098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0191750" y="2095500"/>
            <a:ext cx="228600" cy="228600"/>
          </a:xfrm>
          <a:prstGeom prst="rect">
            <a:avLst/>
          </a:prstGeom>
          <a:ln/>
        </p:spPr>
      </p:pic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0201275" y="2533650"/>
            <a:ext cx="2095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交付
就绪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95350" y="2943225"/>
            <a:ext cx="104013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AI Agent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完成代码后自动触发构建流水线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运行全量测试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输出测试报告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环境一键部署。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全程无需人工介入，从代码提交到生产就绪仅需数分钟。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66750" y="4314825"/>
            <a:ext cx="3533775" cy="1685925"/>
          </a:xfrm>
          <a:prstGeom prst="roundRect">
            <a:avLst>
              <a:gd name="adj" fmla="val 6780"/>
            </a:avLst>
          </a:prstGeom>
          <a:solidFill>
            <a:srgbClr val="10B981">
              <a:alpha val="4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2305050" y="4733925"/>
            <a:ext cx="266700" cy="266700"/>
          </a:xfrm>
          <a:prstGeom prst="rect">
            <a:avLst/>
          </a:prstGeom>
          <a:ln/>
        </p:spPr>
      </p:pic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2133600" y="5095875"/>
            <a:ext cx="6096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F1F5F9"/>
                </a:solidFill>
                <a:latin typeface="Microsoft YaHei"/>
                <a:ea typeface="Microsoft YaHei"/>
              </a:rPr>
              <a:t>完整源码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276350" y="5381625"/>
            <a:ext cx="231457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前端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后端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数据库脚本全部由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AI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生成并验证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4333875" y="4314825"/>
            <a:ext cx="3524250" cy="1685925"/>
          </a:xfrm>
          <a:prstGeom prst="roundRect">
            <a:avLst>
              <a:gd name="adj" fmla="val 6780"/>
            </a:avLst>
          </a:prstGeom>
          <a:solidFill>
            <a:srgbClr val="10B981">
              <a:alpha val="4000"/>
            </a:srgbClr>
          </a:solidFill>
          <a:ln w="12700">
            <a:solidFill>
              <a:srgbClr val="8B5CF6">
                <a:alpha val="1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5962650" y="4733925"/>
            <a:ext cx="266700" cy="266700"/>
          </a:xfrm>
          <a:prstGeom prst="rect">
            <a:avLst/>
          </a:prstGeom>
          <a:ln/>
        </p:spPr>
      </p:pic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781675" y="5095875"/>
            <a:ext cx="62865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F1F5F9"/>
                </a:solidFill>
                <a:latin typeface="Microsoft YaHei"/>
                <a:ea typeface="Microsoft YaHei"/>
              </a:rPr>
              <a:t>PRD</a:t>
            </a:r>
            <a:r>
              <a:rPr lang="zh-CN" sz="1200" b="1">
                <a:solidFill>
                  <a:srgbClr val="F1F5F9"/>
                </a:solidFill>
                <a:latin typeface="Microsoft YaHei"/>
                <a:ea typeface="Microsoft YaHei"/>
              </a:rPr>
              <a:t>文档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895850" y="5381625"/>
            <a:ext cx="240030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产品需求文档含功能清单、字段说明、业务规则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991475" y="4314825"/>
            <a:ext cx="3533775" cy="1685925"/>
          </a:xfrm>
          <a:prstGeom prst="roundRect">
            <a:avLst>
              <a:gd name="adj" fmla="val 6780"/>
            </a:avLst>
          </a:prstGeom>
          <a:solidFill>
            <a:srgbClr val="10B981">
              <a:alpha val="4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9629775" y="4733925"/>
            <a:ext cx="266700" cy="266700"/>
          </a:xfrm>
          <a:prstGeom prst="rect">
            <a:avLst/>
          </a:prstGeom>
          <a:ln/>
        </p:spPr>
      </p:pic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9458325" y="5095875"/>
            <a:ext cx="6096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F1F5F9"/>
                </a:solidFill>
                <a:latin typeface="Microsoft YaHei"/>
                <a:ea typeface="Microsoft YaHei"/>
              </a:rPr>
              <a:t>操作手册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677275" y="5381625"/>
            <a:ext cx="217170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Word/PDF/HTML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三版用户操作手册含截图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大赛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开课管理系统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11 / 13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09" name="" descr="&lt;Slide style={{ width: 1280, height: 720, background: '#0A0E27', padding: '50px 80px 40px 80px' }}&gt;&#10;  {/* A区 简化 */}&#10;  &lt;Box style={{ height: 60, justifyContent: 'center', marginBottom: 10 }}&gt;&#10;    &lt;Text style={{ fontSize: 34, fontWeight: 'bold', color: '#F1F5F9' }}&gt;项目成果总览&lt;/Text&gt;&#10;  &lt;/Box&gt;&#10;&#10;  {/* B区 — 巨型数字 */}&#10;  &lt;Box style={{ flex: 1, justifyContent: 'center', gap: 24 }}&gt;&#10;    {/* 一行三大数字 */}&#10;    &lt;Box style={{ flexDirection: 'row', gap: 32 }}&gt;&#10;      {[&#10;        { num: '85%', label: '代码AI生成占比', sub: '前后端+测试全链路', color: '#06B6D4', icon: 'code' },&#10;        { num: '3×', label: '产品端效率提升', sub: '2-3周 → 3-5天', color: '#8B5CF6', icon: 'rocket' },&#10;        { num: '30+', label: '可复用AI Skill', sub: '跨项目即插即用', color: '#3B82F6', icon: 'puzzle-piece' },&#10;      ].map((item, i) =&gt; (&#10;        &lt;Box key={i} style={{ flex: 1, background: '#131C3D', borderRadius: 18, padding: '28px 20px', border: `1px solid rgba(${item.color === '#06B6D4' ? '6,182,212' : item.color === '#8B5CF6' ? '139,92,246' : '59,130,246'},0.2)`, alignItems: 'center', gap: 14 }}&gt;&#10;          &lt;FAIcon name={item.icon} style={{ fill: item.color, width: 32, height: 32 }} /&gt;&#10;          &lt;Text style={{ fontSize: 72, fontWeight: 'bold', color: item.color, lineHeight: 1 }}&gt;{item.num}&lt;/Text&gt;&#10;          &lt;Text style={{ fontSize: 18, fontWeight: 'bold', color: '#F1F5F9' }}&gt;{item.label}&lt;/Text&gt;&#10;          &lt;Text style={{ fontSize: 13, color: '#64748B' }}&gt;{item.sub}&lt;/Text&gt;&#10;        &lt;/Box&gt;&#10;      ))}&#10;    &lt;/Box&gt;&#10;&#10;    {/* 底部一行两辅助数据 */}&#10;    &lt;Box style={{ flexDirection: 'row', gap: 32 }}&gt;&#10;      {[&#10;        { num: '14+', label: '业务子模块', desc: '开课设置、专业开课、通识选修、授课确认、教师替换等全覆盖', icon: 'cubes' },&#10;        { num: '100%', label: '端到端自动化', desc: '需求→设计→开发→测试→部署全链路AI驱动，无人值守交付', icon: 'sync-alt' },&#10;      ].map((item, i) =&gt; (&#10;        &lt;Box key={i} style={{ flex: 1, background: 'linear-gradient(135deg, rgba(59,130,246,0.06) 0%, rgba(139,92,246,0.04) 100%)', borderRadius: 14, padding: '20px 28px', flexDirection: 'row', gap: 20, alignItems: 'center' }}&gt;&#10;          &lt;FAIcon name={item.icon} style={{ fill: '#3B82F6', width: 36, height: 36 }} /&gt;&#10;          &lt;Box style={{ flex: 1, gap: 4 }}&gt;&#10;            &lt;Box style={{ flexDirection: 'row', alignItems: 'baseline', gap: 6 }}&gt;&#10;              &lt;Text style={{ fontSize: 40, fontWeight: 'bold', color: '#3B82F6' }}&gt;{item.num}&lt;/Text&gt;&#10;              &lt;Text style={{ fontSize: 18, fontWeight: 'bold', color: '#F1F5F9' }}&gt;{item.label}&lt;/Text&gt;&#10;            &lt;/Box&gt;&#10;            &lt;Text style={{ fontSize: 13, color: '#94A3B8', lineHeight: 1.5 }}&gt;{item.desc}&lt;/Text&gt;&#10;          &lt;/Box&gt;&#10;        &lt;/Box&gt;&#10;      ))}&#10;    &lt;/Box&gt;&#10;  &lt;/Box&gt;&#10;&#10;  {/* C区 */}&#10;  &lt;Box style={{ height: 40, flexDirection: 'row', justifyContent: 'space-between', alignItems: 'center', marginTop: 10 }}&gt;&#10;    &lt;Text style={{ fontSize: 14, color: '#64748B' }}&gt;AI大赛 · 开课管理系统&lt;/Text&gt;&#10;    &lt;Text style={{ fontSize: 14, color: '#64748B' }}&gt;12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62000" y="571500"/>
            <a:ext cx="10668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项目成果总览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62000" y="1695450"/>
            <a:ext cx="3352800" cy="2428875"/>
          </a:xfrm>
          <a:prstGeom prst="roundRect">
            <a:avLst>
              <a:gd name="adj" fmla="val 7059"/>
            </a:avLst>
          </a:prstGeom>
          <a:solidFill>
            <a:srgbClr val="131C3D"/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286000" y="1962150"/>
            <a:ext cx="304800" cy="304800"/>
          </a:xfrm>
          <a:prstGeom prst="rect">
            <a:avLst/>
          </a:prstGeom>
          <a:ln/>
        </p:spPr>
      </p:pic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752600" y="2400300"/>
            <a:ext cx="13811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6B6D4"/>
                </a:solidFill>
                <a:latin typeface="Microsoft YaHei"/>
                <a:ea typeface="Microsoft YaHei"/>
              </a:rPr>
              <a:t>85%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838325" y="336232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代码</a:t>
            </a:r>
            <a:r>
              <a:rPr lang="en-US" sz="1350" b="1">
                <a:solidFill>
                  <a:srgbClr val="F1F5F9"/>
                </a:solidFill>
                <a:latin typeface="Microsoft YaHei"/>
                <a:ea typeface="Microsoft YaHei"/>
              </a:rPr>
              <a:t>AI</a:t>
            </a: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生成占比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905000" y="3705225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前后端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+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测试全链路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4419600" y="1695450"/>
            <a:ext cx="3352800" cy="2428875"/>
          </a:xfrm>
          <a:prstGeom prst="roundRect">
            <a:avLst>
              <a:gd name="adj" fmla="val 7059"/>
            </a:avLst>
          </a:prstGeom>
          <a:solidFill>
            <a:srgbClr val="131C3D"/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43600" y="1962150"/>
            <a:ext cx="304800" cy="304800"/>
          </a:xfrm>
          <a:prstGeom prst="rect">
            <a:avLst/>
          </a:prstGeom>
          <a:ln/>
        </p:spPr>
      </p:pic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705475" y="2400300"/>
            <a:ext cx="7905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8B5CF6"/>
                </a:solidFill>
                <a:latin typeface="Microsoft YaHei"/>
                <a:ea typeface="Microsoft YaHei"/>
              </a:rPr>
              <a:t>3×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495925" y="336232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产品端效率提升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695950" y="3705225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2-3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周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→ 3-5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8077200" y="1695450"/>
            <a:ext cx="3352800" cy="2428875"/>
          </a:xfrm>
          <a:prstGeom prst="roundRect">
            <a:avLst>
              <a:gd name="adj" fmla="val 7059"/>
            </a:avLst>
          </a:prstGeom>
          <a:solidFill>
            <a:srgbClr val="131C3D"/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601200" y="1962150"/>
            <a:ext cx="304800" cy="304800"/>
          </a:xfrm>
          <a:prstGeom prst="rect">
            <a:avLst/>
          </a:prstGeom>
          <a:ln/>
        </p:spPr>
      </p:pic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9172575" y="2400300"/>
            <a:ext cx="11715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3B82F6"/>
                </a:solidFill>
                <a:latin typeface="Microsoft YaHei"/>
                <a:ea typeface="Microsoft YaHei"/>
              </a:rPr>
              <a:t>30+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210675" y="3362325"/>
            <a:ext cx="1095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可复用</a:t>
            </a:r>
            <a:r>
              <a:rPr lang="en-US" sz="1350" b="1">
                <a:solidFill>
                  <a:srgbClr val="F1F5F9"/>
                </a:solidFill>
                <a:latin typeface="Microsoft YaHei"/>
                <a:ea typeface="Microsoft YaHei"/>
              </a:rPr>
              <a:t>AI Skill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9324975" y="370522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跨项目即插即用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762000" y="4352925"/>
            <a:ext cx="5181600" cy="1104900"/>
          </a:xfrm>
          <a:prstGeom prst="roundRect">
            <a:avLst>
              <a:gd name="adj" fmla="val 12069"/>
            </a:avLst>
          </a:prstGeom>
          <a:gradFill>
            <a:gsLst>
              <a:gs pos="0">
                <a:srgbClr val="3B82F6">
                  <a:alpha val="6000"/>
                </a:srgbClr>
              </a:gs>
              <a:gs pos="100000">
                <a:srgbClr val="8B5CF6">
                  <a:alpha val="4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028700" y="4733925"/>
            <a:ext cx="342900" cy="342900"/>
          </a:xfrm>
          <a:prstGeom prst="rect">
            <a:avLst/>
          </a:prstGeom>
          <a:ln/>
        </p:spPr>
      </p:pic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562100" y="4543425"/>
            <a:ext cx="6477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3B82F6"/>
                </a:solidFill>
                <a:latin typeface="Microsoft YaHei"/>
                <a:ea typeface="Microsoft YaHei"/>
              </a:rPr>
              <a:t>14+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2266950" y="4543425"/>
            <a:ext cx="857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业务子模块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562100" y="5038725"/>
            <a:ext cx="4114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开课设置、专业开课、通识选修、授课确认、教师替换等全覆盖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248400" y="4352925"/>
            <a:ext cx="5181600" cy="1104900"/>
          </a:xfrm>
          <a:prstGeom prst="roundRect">
            <a:avLst>
              <a:gd name="adj" fmla="val 12069"/>
            </a:avLst>
          </a:prstGeom>
          <a:gradFill>
            <a:gsLst>
              <a:gs pos="0">
                <a:srgbClr val="3B82F6">
                  <a:alpha val="6000"/>
                </a:srgbClr>
              </a:gs>
              <a:gs pos="100000">
                <a:srgbClr val="8B5CF6">
                  <a:alpha val="4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515100" y="4733925"/>
            <a:ext cx="342900" cy="342900"/>
          </a:xfrm>
          <a:prstGeom prst="rect">
            <a:avLst/>
          </a:prstGeom>
          <a:ln/>
        </p:spPr>
      </p:pic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048500" y="4543425"/>
            <a:ext cx="9810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3B82F6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086725" y="4543425"/>
            <a:ext cx="10287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Microsoft YaHei"/>
                <a:ea typeface="Microsoft YaHei"/>
              </a:rPr>
              <a:t>端到端自动化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048500" y="5038725"/>
            <a:ext cx="4114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需求→设计→开发→测试→部署全链路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驱动，无人值守交付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62000" y="62103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大赛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开课管理系统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020425" y="6210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12 / 13</a:t>
            </a:r>
            <a:endParaRPr/>
          </a:p>
        </p:txBody>
      </p:sp>
    </p:spTree>
  </p:cSld>
</p:sld>
</file>

<file path=ppt/slides/slide1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39" name="" descr="&lt;Slide style={{ width: 1280, height: 720, background: '#0A0E27', padding: 0, position: 'relative', overflow: 'hidden' }}&gt;&#10;  {/* 背景装饰 */}&#10;  &lt;Box style={{ position: 'absolute', bottom: -100, right: -100, width: 500, height: 500, borderRadius: 250, background: 'radial-gradient(circle, rgba(139,92,246,0.12) 0%, transparent 70%)' }} /&gt;&#10;  &lt;Box style={{ position: 'absolute', top: -60, left: -60, width: 350, height: 350, borderRadius: 175, background: 'radial-gradient(circle, rgba(6,182,212,0.08) 0%, transparent 70%)' }} /&gt;&#10;&#10;  {/* 网格 */}&#10;  &lt;svg style={{ position: 'absolute', top: 0, left: 0, width: 1280, height: 720, opacity: 0.03 }}&gt;&#10;    &lt;svg viewBox='0 0 1280 720'&gt;&#10;      {Array.from({ length: 12 }, (_, i) =&gt; &lt;line key={i} x1={0} y1={i * 60} x2={1280} y2={i * 60} stroke='#3B82F6' strokeWidth={0.5} /&gt;)}&#10;      {Array.from({ length: 21 }, (_, i) =&gt; &lt;line key={i} x1={i * 60} y1={0} x2={i * 60} y2={720} stroke='#3B82F6' strokeWidth={0.5} /&gt;)}&#10;    &lt;/svg&gt;&#10;  &lt;/svg&gt;&#10;&#10;  {/* 主内容 */}&#10;  &lt;Box style={{ position: 'relative', zIndex: 2, flex: 1, justifyContent: 'center', alignItems: 'center', gap: 30 }}&gt;&#10;    {/* 金句 */}&#10;    &lt;Text style={{&#10;      fontSize: 48, fontWeight: 'bold',&#10;      backgroundImage: 'linear-gradient(135deg, #06B6D4 0%, #3B82F6 50%, #8B5CF6 100%)',&#10;      backgroundClip: 'text',&#10;      color: 'transparent',&#10;      textAlign: 'center',&#10;      lineHeight: 1.3,&#10;      maxWidth: 800,&#10;    }}&gt;&#10;      AI 不是替代开发者，&#10;    &lt;/Text&gt;&#10;    &lt;Text style={{&#10;      fontSize: 48, fontWeight: 'bold',&#10;      textAlign: 'center', lineHeight: 1.3, maxWidth: 800,&#10;      color: '#F1F5F9',&#10;    }}&gt;&#10;      而是让一个人完成一个团队的产出。&#10;    &lt;/Text&gt;&#10;&#10;    {/* 装饰分割线 */}&#10;    &lt;Box style={{ width: 80, height: 3, background: 'linear-gradient(90deg, #06B6D4, #8B5CF6)', borderRadius: 2 }} /&gt;&#10;&#10;    {/* 感谢 */}&#10;    &lt;Text style={{ fontSize: 24, color: '#94A3B8', marginTop: 20 }}&gt;感谢聆听 · 欢迎体验&lt;/Text&gt;&#10;&#10;    {/* 底部联系信息 */}&#10;    &lt;Box style={{ flexDirection: 'row', gap: 40, marginTop: 30 }}&gt;&#10;      &lt;Box style={{ flexDirection: 'row', alignItems: 'center', gap: 8 }}&gt;&#10;        &lt;FAIcon name='users' style={{ fill: '#64748B', width: 16, height: 16 }} /&gt;&#10;        &lt;Text style={{ fontSize: 14, color: '#64748B' }}&gt;AI 参赛团队&lt;/Text&gt;&#10;      &lt;/Box&gt;&#10;      &lt;Box style={{ flexDirection: 'row', alignItems: 'center', gap: 8 }}&gt;&#10;        &lt;FAIcon name='calendar' style={{ fill: '#64748B', width: 16, height: 16 }} /&gt;&#10;        &lt;Text style={{ fontSize: 14, color: '#64748B' }}&gt;2026年8月&lt;/Text&gt;&#10;      &lt;/Box&gt;&#10;    &lt;/Box&gt;&#10;  &lt;/Box&gt;&#10;&#10;  {/* 底部渐变条 */}&#10;  &lt;Box style={{ position: 'absolute', bottom: 0, left: 0, width: '100%', height: 4, background: 'linear-gradient(90deg, #8B5CF6, #06B6D4, #3B82F6)' }} /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8382000" y="3048000"/>
            <a:ext cx="4762500" cy="4762500"/>
          </a:xfrm>
          <a:custGeom>
            <a:pathLst>
              <a:path w="500" h="500">
                <a:moveTo>
                  <a:pt x="256" y="0"/>
                </a:moveTo>
                <a:lnTo>
                  <a:pt x="263" y="0"/>
                </a:lnTo>
                <a:lnTo>
                  <a:pt x="269" y="1"/>
                </a:lnTo>
                <a:lnTo>
                  <a:pt x="276" y="1"/>
                </a:lnTo>
                <a:lnTo>
                  <a:pt x="282" y="2"/>
                </a:lnTo>
                <a:lnTo>
                  <a:pt x="288" y="3"/>
                </a:lnTo>
                <a:lnTo>
                  <a:pt x="294" y="4"/>
                </a:lnTo>
                <a:lnTo>
                  <a:pt x="300" y="5"/>
                </a:lnTo>
                <a:lnTo>
                  <a:pt x="306" y="6"/>
                </a:lnTo>
                <a:lnTo>
                  <a:pt x="312" y="8"/>
                </a:lnTo>
                <a:lnTo>
                  <a:pt x="318" y="9"/>
                </a:lnTo>
                <a:lnTo>
                  <a:pt x="324" y="11"/>
                </a:lnTo>
                <a:lnTo>
                  <a:pt x="330" y="13"/>
                </a:lnTo>
                <a:lnTo>
                  <a:pt x="336" y="15"/>
                </a:lnTo>
                <a:lnTo>
                  <a:pt x="342" y="17"/>
                </a:lnTo>
                <a:lnTo>
                  <a:pt x="347" y="20"/>
                </a:lnTo>
                <a:lnTo>
                  <a:pt x="353" y="22"/>
                </a:lnTo>
                <a:lnTo>
                  <a:pt x="358" y="25"/>
                </a:lnTo>
                <a:lnTo>
                  <a:pt x="364" y="27"/>
                </a:lnTo>
                <a:lnTo>
                  <a:pt x="369" y="30"/>
                </a:lnTo>
                <a:lnTo>
                  <a:pt x="374" y="33"/>
                </a:lnTo>
                <a:lnTo>
                  <a:pt x="380" y="36"/>
                </a:lnTo>
                <a:lnTo>
                  <a:pt x="385" y="39"/>
                </a:lnTo>
                <a:lnTo>
                  <a:pt x="390" y="43"/>
                </a:lnTo>
                <a:lnTo>
                  <a:pt x="395" y="46"/>
                </a:lnTo>
                <a:lnTo>
                  <a:pt x="400" y="50"/>
                </a:lnTo>
                <a:lnTo>
                  <a:pt x="400" y="50"/>
                </a:lnTo>
                <a:lnTo>
                  <a:pt x="400" y="400"/>
                </a:lnTo>
                <a:lnTo>
                  <a:pt x="50" y="400"/>
                </a:lnTo>
                <a:lnTo>
                  <a:pt x="50" y="400"/>
                </a:lnTo>
                <a:lnTo>
                  <a:pt x="46" y="395"/>
                </a:lnTo>
                <a:lnTo>
                  <a:pt x="43" y="390"/>
                </a:lnTo>
                <a:lnTo>
                  <a:pt x="39" y="385"/>
                </a:lnTo>
                <a:lnTo>
                  <a:pt x="36" y="380"/>
                </a:lnTo>
                <a:lnTo>
                  <a:pt x="33" y="374"/>
                </a:lnTo>
                <a:lnTo>
                  <a:pt x="30" y="369"/>
                </a:lnTo>
                <a:lnTo>
                  <a:pt x="27" y="364"/>
                </a:lnTo>
                <a:lnTo>
                  <a:pt x="25" y="358"/>
                </a:lnTo>
                <a:lnTo>
                  <a:pt x="22" y="353"/>
                </a:lnTo>
                <a:lnTo>
                  <a:pt x="20" y="347"/>
                </a:lnTo>
                <a:lnTo>
                  <a:pt x="17" y="342"/>
                </a:lnTo>
                <a:lnTo>
                  <a:pt x="15" y="336"/>
                </a:lnTo>
                <a:lnTo>
                  <a:pt x="13" y="330"/>
                </a:lnTo>
                <a:lnTo>
                  <a:pt x="11" y="324"/>
                </a:lnTo>
                <a:lnTo>
                  <a:pt x="9" y="318"/>
                </a:lnTo>
                <a:lnTo>
                  <a:pt x="8" y="312"/>
                </a:lnTo>
                <a:lnTo>
                  <a:pt x="6" y="306"/>
                </a:lnTo>
                <a:lnTo>
                  <a:pt x="5" y="300"/>
                </a:lnTo>
                <a:lnTo>
                  <a:pt x="4" y="294"/>
                </a:lnTo>
                <a:lnTo>
                  <a:pt x="3" y="288"/>
                </a:lnTo>
                <a:lnTo>
                  <a:pt x="2" y="282"/>
                </a:lnTo>
                <a:lnTo>
                  <a:pt x="1" y="276"/>
                </a:lnTo>
                <a:lnTo>
                  <a:pt x="1" y="269"/>
                </a:lnTo>
                <a:lnTo>
                  <a:pt x="0" y="263"/>
                </a:lnTo>
                <a:lnTo>
                  <a:pt x="0" y="256"/>
                </a:lnTo>
                <a:lnTo>
                  <a:pt x="0" y="250"/>
                </a:lnTo>
                <a:lnTo>
                  <a:pt x="0" y="244"/>
                </a:lnTo>
                <a:lnTo>
                  <a:pt x="0" y="237"/>
                </a:lnTo>
                <a:lnTo>
                  <a:pt x="1" y="231"/>
                </a:lnTo>
                <a:lnTo>
                  <a:pt x="1" y="224"/>
                </a:lnTo>
                <a:lnTo>
                  <a:pt x="2" y="218"/>
                </a:lnTo>
                <a:lnTo>
                  <a:pt x="3" y="212"/>
                </a:lnTo>
                <a:lnTo>
                  <a:pt x="4" y="206"/>
                </a:lnTo>
                <a:lnTo>
                  <a:pt x="5" y="200"/>
                </a:lnTo>
                <a:lnTo>
                  <a:pt x="6" y="194"/>
                </a:lnTo>
                <a:lnTo>
                  <a:pt x="8" y="188"/>
                </a:lnTo>
                <a:lnTo>
                  <a:pt x="9" y="182"/>
                </a:lnTo>
                <a:lnTo>
                  <a:pt x="11" y="176"/>
                </a:lnTo>
                <a:lnTo>
                  <a:pt x="13" y="170"/>
                </a:lnTo>
                <a:lnTo>
                  <a:pt x="15" y="164"/>
                </a:lnTo>
                <a:lnTo>
                  <a:pt x="17" y="158"/>
                </a:lnTo>
                <a:lnTo>
                  <a:pt x="20" y="153"/>
                </a:lnTo>
                <a:lnTo>
                  <a:pt x="22" y="147"/>
                </a:lnTo>
                <a:lnTo>
                  <a:pt x="25" y="142"/>
                </a:lnTo>
                <a:lnTo>
                  <a:pt x="27" y="136"/>
                </a:lnTo>
                <a:lnTo>
                  <a:pt x="30" y="131"/>
                </a:lnTo>
                <a:lnTo>
                  <a:pt x="33" y="126"/>
                </a:lnTo>
                <a:lnTo>
                  <a:pt x="36" y="120"/>
                </a:lnTo>
                <a:lnTo>
                  <a:pt x="39" y="115"/>
                </a:lnTo>
                <a:lnTo>
                  <a:pt x="43" y="110"/>
                </a:lnTo>
                <a:lnTo>
                  <a:pt x="46" y="105"/>
                </a:lnTo>
                <a:lnTo>
                  <a:pt x="50" y="100"/>
                </a:lnTo>
                <a:lnTo>
                  <a:pt x="53" y="96"/>
                </a:lnTo>
                <a:lnTo>
                  <a:pt x="57" y="91"/>
                </a:lnTo>
                <a:lnTo>
                  <a:pt x="61" y="86"/>
                </a:lnTo>
                <a:lnTo>
                  <a:pt x="65" y="82"/>
                </a:lnTo>
                <a:lnTo>
                  <a:pt x="69" y="78"/>
                </a:lnTo>
                <a:lnTo>
                  <a:pt x="73" y="73"/>
                </a:lnTo>
                <a:lnTo>
                  <a:pt x="78" y="69"/>
                </a:lnTo>
                <a:lnTo>
                  <a:pt x="82" y="65"/>
                </a:lnTo>
                <a:lnTo>
                  <a:pt x="86" y="61"/>
                </a:lnTo>
                <a:lnTo>
                  <a:pt x="91" y="57"/>
                </a:lnTo>
                <a:lnTo>
                  <a:pt x="96" y="53"/>
                </a:lnTo>
                <a:lnTo>
                  <a:pt x="100" y="50"/>
                </a:lnTo>
                <a:lnTo>
                  <a:pt x="105" y="46"/>
                </a:lnTo>
                <a:lnTo>
                  <a:pt x="110" y="43"/>
                </a:lnTo>
                <a:lnTo>
                  <a:pt x="115" y="39"/>
                </a:lnTo>
                <a:lnTo>
                  <a:pt x="120" y="36"/>
                </a:lnTo>
                <a:lnTo>
                  <a:pt x="126" y="33"/>
                </a:lnTo>
                <a:lnTo>
                  <a:pt x="131" y="30"/>
                </a:lnTo>
                <a:lnTo>
                  <a:pt x="136" y="27"/>
                </a:lnTo>
                <a:lnTo>
                  <a:pt x="142" y="25"/>
                </a:lnTo>
                <a:lnTo>
                  <a:pt x="147" y="22"/>
                </a:lnTo>
                <a:lnTo>
                  <a:pt x="153" y="20"/>
                </a:lnTo>
                <a:lnTo>
                  <a:pt x="158" y="17"/>
                </a:lnTo>
                <a:lnTo>
                  <a:pt x="164" y="15"/>
                </a:lnTo>
                <a:lnTo>
                  <a:pt x="170" y="13"/>
                </a:lnTo>
                <a:lnTo>
                  <a:pt x="176" y="11"/>
                </a:lnTo>
                <a:lnTo>
                  <a:pt x="182" y="9"/>
                </a:lnTo>
                <a:lnTo>
                  <a:pt x="188" y="8"/>
                </a:lnTo>
                <a:lnTo>
                  <a:pt x="194" y="6"/>
                </a:lnTo>
                <a:lnTo>
                  <a:pt x="200" y="5"/>
                </a:lnTo>
                <a:lnTo>
                  <a:pt x="206" y="4"/>
                </a:lnTo>
                <a:lnTo>
                  <a:pt x="212" y="3"/>
                </a:lnTo>
                <a:lnTo>
                  <a:pt x="218" y="2"/>
                </a:lnTo>
                <a:lnTo>
                  <a:pt x="224" y="1"/>
                </a:lnTo>
                <a:lnTo>
                  <a:pt x="231" y="1"/>
                </a:lnTo>
                <a:lnTo>
                  <a:pt x="237" y="0"/>
                </a:lnTo>
                <a:lnTo>
                  <a:pt x="244" y="0"/>
                </a:lnTo>
                <a:lnTo>
                  <a:pt x="250" y="0"/>
                </a:lnTo>
                <a:close/>
              </a:path>
            </a:pathLst>
          </a:custGeom>
          <a:gradFill>
            <a:gsLst>
              <a:gs pos="0">
                <a:srgbClr val="8B5CF6">
                  <a:alpha val="12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-571500" y="-571500"/>
            <a:ext cx="3333750" cy="3333750"/>
          </a:xfrm>
          <a:custGeom>
            <a:pathLst>
              <a:path w="350" h="350">
                <a:moveTo>
                  <a:pt x="307" y="61"/>
                </a:moveTo>
                <a:cubicBezTo>
                  <a:pt x="367" y="130"/>
                  <a:pt x="364" y="234"/>
                  <a:pt x="298" y="299"/>
                </a:cubicBezTo>
                <a:cubicBezTo>
                  <a:pt x="233" y="364"/>
                  <a:pt x="129" y="367"/>
                  <a:pt x="60" y="307"/>
                </a:cubicBezTo>
                <a:lnTo>
                  <a:pt x="60" y="60"/>
                </a:lnTo>
                <a:lnTo>
                  <a:pt x="307" y="60"/>
                </a:lnTo>
                <a:close/>
              </a:path>
            </a:pathLst>
          </a:custGeom>
          <a:gradFill>
            <a:gsLst>
              <a:gs pos="0">
                <a:srgbClr val="06B6D4">
                  <a:alpha val="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pic>
        <p:nvPicPr>
          <p:cNvPr id="143" name=""/>
          <p:cNvPicPr>
            <a:picLocks noChangeAspect="1"/>
          </p:cNvPicPr>
          <p:nvPr/>
        </p:nvPicPr>
        <p:blipFill>
          <a:blip>
            <a:alphaModFix amt="3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44" name=""/>
          <p:cNvSpPr/>
          <p:nvPr/>
        </p:nvSpPr>
        <p:spPr>
          <a:xfrm rot="0" flipH="0" flipV="0"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8B5CF6"/>
              </a:gs>
              <a:gs pos="50000">
                <a:srgbClr val="06B6D4"/>
              </a:gs>
              <a:gs pos="100000">
                <a:srgbClr val="3B82F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971925" y="1676400"/>
            <a:ext cx="4248150" cy="7143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en-US" sz="3600" b="1">
                <a:gradFill>
                  <a:gsLst>
                    <a:gs pos="0">
                      <a:srgbClr val="06B6D4"/>
                    </a:gs>
                    <a:gs pos="50000">
                      <a:srgbClr val="3B82F6"/>
                    </a:gs>
                    <a:gs pos="100000">
                      <a:srgbClr val="8B5CF6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AI </a:t>
            </a:r>
            <a:r>
              <a:rPr lang="zh-CN" sz="3600" b="1">
                <a:gradFill>
                  <a:gsLst>
                    <a:gs pos="0">
                      <a:srgbClr val="06B6D4"/>
                    </a:gs>
                    <a:gs pos="50000">
                      <a:srgbClr val="3B82F6"/>
                    </a:gs>
                    <a:gs pos="100000">
                      <a:srgbClr val="8B5CF6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不是替代开发者，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2438400" y="2676525"/>
            <a:ext cx="7315200" cy="7143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3600" b="1">
                <a:solidFill>
                  <a:srgbClr val="F1F5F9"/>
                </a:solidFill>
                <a:latin typeface="Microsoft YaHei"/>
                <a:ea typeface="Microsoft YaHei"/>
              </a:rPr>
              <a:t>而是让一个人完成一个团队的产出。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5715000" y="3676650"/>
            <a:ext cx="7620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06B6D4"/>
              </a:gs>
              <a:gs pos="100000">
                <a:srgbClr val="8B5CF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076825" y="4181475"/>
            <a:ext cx="2038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94A3B8"/>
                </a:solidFill>
                <a:latin typeface="Microsoft YaHei"/>
                <a:ea typeface="Microsoft YaHei"/>
              </a:rPr>
              <a:t>感谢聆听</a:t>
            </a:r>
            <a:r>
              <a:rPr lang="en-US" sz="18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94A3B8"/>
                </a:solidFill>
                <a:latin typeface="Microsoft YaHei"/>
                <a:ea typeface="Microsoft YaHei"/>
              </a:rPr>
              <a:t>欢迎体验</a:t>
            </a:r>
            <a:endParaRPr/>
          </a:p>
        </p:txBody>
      </p:sp>
      <p:pic>
        <p:nvPicPr>
          <p:cNvPr id="1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010150" y="5038725"/>
            <a:ext cx="152400" cy="152400"/>
          </a:xfrm>
          <a:prstGeom prst="rect">
            <a:avLst/>
          </a:prstGeom>
          <a:ln/>
        </p:spPr>
      </p:pic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238750" y="5029200"/>
            <a:ext cx="70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参赛团队</a:t>
            </a:r>
            <a:endParaRPr/>
          </a:p>
        </p:txBody>
      </p:sp>
      <p:pic>
        <p:nvPicPr>
          <p:cNvPr id="1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324600" y="5038725"/>
            <a:ext cx="152400" cy="152400"/>
          </a:xfrm>
          <a:prstGeom prst="rect">
            <a:avLst/>
          </a:prstGeom>
          <a:ln/>
        </p:spPr>
      </p:pic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553200" y="5029200"/>
            <a:ext cx="638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2026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8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2026-08-07T17:31:28Z</dcterms:created>
  <dcterms:modified xsi:type="dcterms:W3CDTF">2026-08-07T17:31:28Z</dcterms:modified>
</cp:coreProperties>
</file>