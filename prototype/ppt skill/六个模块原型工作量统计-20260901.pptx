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280160" cy="54864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XMUM  ·  马来项目  ·  产品设计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六个模块原型工作量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微软雅黑"/>
                <a:ea typeface="微软雅黑"/>
              </a:rPr>
              <a:t>菜单入口  ·  独立原型页  ·  已落档功能点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73552"/>
            <a:ext cx="2651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C4A35A"/>
                </a:solidFill>
                <a:latin typeface="微软雅黑"/>
                <a:ea typeface="微软雅黑"/>
              </a:rPr>
              <a:t>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3632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叶子菜单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20040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273552"/>
            <a:ext cx="2651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C4A35A"/>
                </a:solidFill>
                <a:latin typeface="微软雅黑"/>
                <a:ea typeface="微软雅黑"/>
              </a:rPr>
              <a:t>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913632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独立原型页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20040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273552"/>
            <a:ext cx="2651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C4A35A"/>
                </a:solidFill>
                <a:latin typeface="微软雅黑"/>
                <a:ea typeface="微软雅黑"/>
              </a:rPr>
              <a:t>189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913632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已落档功能点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20040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43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3273552"/>
            <a:ext cx="2651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C4A35A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913632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设计模块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09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/>
                <a:ea typeface="微软雅黑"/>
              </a:rPr>
              <a:t>基础数据 18 页  ·  学籍 9 页 / 67 功能  ·  选课 13 页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/>
                <a:ea typeface="微软雅黑"/>
              </a:rPr>
              <a:t>培养方案 11 页 / 54 功能  ·  开课 24 页 / 68 功能  ·  排课 23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155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2026 年 9 月 1 日  ·  功能点只报已出 PRD 的清单，未落档不估算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1F3A"/>
                </a:solidFill>
                <a:latin typeface="微软雅黑"/>
                <a:ea typeface="微软雅黑"/>
              </a:rPr>
              <a:t>工作量总表：87 个菜单，98 张页面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"/>
            <a:ext cx="100584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94944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功能点只加已落档三项：培养方案 54 + 开课 68 + 学籍 67 = 189。基础数据 / 选课 / 排课不硬加总。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60704"/>
            <a:ext cx="2788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2788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B1F3A"/>
                </a:solidFill>
                <a:latin typeface="微软雅黑"/>
                <a:ea typeface="微软雅黑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基础三件套菜单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92224"/>
            <a:ext cx="2606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基础 18  ·  学籍 9  ·  选课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060704"/>
            <a:ext cx="2788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115568"/>
            <a:ext cx="2788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B1F3A"/>
                </a:solidFill>
                <a:latin typeface="微软雅黑"/>
                <a:ea typeface="微软雅黑"/>
              </a:rP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536192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教务三件套菜单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1792224"/>
            <a:ext cx="2606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方案 9  ·  开课 16  ·  排课 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060704"/>
            <a:ext cx="2788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115568"/>
            <a:ext cx="2788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B1F3A"/>
                </a:solidFill>
                <a:latin typeface="微软雅黑"/>
                <a:ea typeface="微软雅黑"/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536192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基础三件套页面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1792224"/>
            <a:ext cx="2606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基础 18  ·  学籍 9  ·  选课 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1060704"/>
            <a:ext cx="2788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1115568"/>
            <a:ext cx="2788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B1F3A"/>
                </a:solidFill>
                <a:latin typeface="微软雅黑"/>
                <a:ea typeface="微软雅黑"/>
              </a:rPr>
              <a:t>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1536192"/>
            <a:ext cx="2606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教务三件套页面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1792224"/>
            <a:ext cx="2606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</a:rPr>
              <a:t>方案 11  ·  开课 24  ·  排课 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77440"/>
            <a:ext cx="192024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377440"/>
            <a:ext cx="19202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2377440"/>
            <a:ext cx="13716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2377440"/>
            <a:ext cx="1371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叶子菜单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377440"/>
            <a:ext cx="128016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2377440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独立页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83480" y="2377440"/>
            <a:ext cx="128016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2377440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功能点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377440"/>
            <a:ext cx="52120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377440"/>
            <a:ext cx="52120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说明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816352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2816352"/>
            <a:ext cx="181051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基础数据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2816352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31720" y="2816352"/>
            <a:ext cx="1371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3320" y="2816352"/>
            <a:ext cx="12801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2816352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2816352"/>
            <a:ext cx="12801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2816352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816352"/>
            <a:ext cx="52120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2816352"/>
            <a:ext cx="510235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菜单即页面；功能清单未落档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255264"/>
            <a:ext cx="192024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" y="3255264"/>
            <a:ext cx="181051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学籍管理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1720" y="3255264"/>
            <a:ext cx="137160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3255264"/>
            <a:ext cx="1371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03320" y="3255264"/>
            <a:ext cx="12801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03320" y="3255264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83480" y="3255264"/>
            <a:ext cx="12801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83480" y="3255264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C4A35A"/>
                </a:solidFill>
                <a:latin typeface="微软雅黑"/>
                <a:ea typeface="微软雅黑"/>
              </a:rPr>
              <a:t>67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255264"/>
            <a:ext cx="52120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73368" y="3255264"/>
            <a:ext cx="510235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PRD 按钮清单已落档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3694176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3694176"/>
            <a:ext cx="181051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选课管理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31720" y="3694176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31720" y="3694176"/>
            <a:ext cx="1371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03320" y="3694176"/>
            <a:ext cx="12801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03320" y="3694176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83480" y="3694176"/>
            <a:ext cx="12801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83480" y="3694176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3694176"/>
            <a:ext cx="52120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3368" y="3694176"/>
            <a:ext cx="510235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较年中 PPT +1 个管理端入口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4133088"/>
            <a:ext cx="192024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1208" y="4133088"/>
            <a:ext cx="181051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培养方案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31720" y="4133088"/>
            <a:ext cx="137160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31720" y="4133088"/>
            <a:ext cx="1371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03320" y="4133088"/>
            <a:ext cx="12801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03320" y="4133088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83480" y="4133088"/>
            <a:ext cx="12801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83480" y="4133088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C4A35A"/>
                </a:solidFill>
                <a:latin typeface="微软雅黑"/>
                <a:ea typeface="微软雅黑"/>
              </a:rPr>
              <a:t>54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63640" y="4133088"/>
            <a:ext cx="52120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73368" y="4133088"/>
            <a:ext cx="510235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含 2 个编辑子页；PRD V2.2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4572000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1208" y="4572000"/>
            <a:ext cx="181051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开课管理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31720" y="4572000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31720" y="4572000"/>
            <a:ext cx="1371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03320" y="4572000"/>
            <a:ext cx="12801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03320" y="4572000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24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83480" y="4572000"/>
            <a:ext cx="12801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83480" y="4572000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C4A35A"/>
                </a:solidFill>
                <a:latin typeface="微软雅黑"/>
                <a:ea typeface="微软雅黑"/>
              </a:rPr>
              <a:t>68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63640" y="4572000"/>
            <a:ext cx="52120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73368" y="4572000"/>
            <a:ext cx="510235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10 / 16 个菜单已出功能清单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5010912"/>
            <a:ext cx="192024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" y="5010912"/>
            <a:ext cx="181051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微软雅黑"/>
                <a:ea typeface="微软雅黑"/>
              </a:rPr>
              <a:t>排课管理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31720" y="5010912"/>
            <a:ext cx="137160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31720" y="5010912"/>
            <a:ext cx="1371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703320" y="5010912"/>
            <a:ext cx="12801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703320" y="5010912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B1F3A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83480" y="5010912"/>
            <a:ext cx="12801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83480" y="5010912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63640" y="5010912"/>
            <a:ext cx="52120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73368" y="5010912"/>
            <a:ext cx="510235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本仓库无排课功能清单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" y="5449824"/>
            <a:ext cx="1920240" cy="438912"/>
          </a:xfrm>
          <a:prstGeom prst="rect">
            <a:avLst/>
          </a:prstGeom>
          <a:solidFill>
            <a:srgbClr val="EEF2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1208" y="5449824"/>
            <a:ext cx="181051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合计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31720" y="5449824"/>
            <a:ext cx="1371600" cy="438912"/>
          </a:xfrm>
          <a:prstGeom prst="rect">
            <a:avLst/>
          </a:prstGeom>
          <a:solidFill>
            <a:srgbClr val="EEF2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31720" y="5449824"/>
            <a:ext cx="13716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87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703320" y="5449824"/>
            <a:ext cx="1280160" cy="438912"/>
          </a:xfrm>
          <a:prstGeom prst="rect">
            <a:avLst/>
          </a:prstGeom>
          <a:solidFill>
            <a:srgbClr val="EEF2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703320" y="5449824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98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983480" y="5449824"/>
            <a:ext cx="1280160" cy="438912"/>
          </a:xfrm>
          <a:prstGeom prst="rect">
            <a:avLst/>
          </a:prstGeom>
          <a:solidFill>
            <a:srgbClr val="EEF2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83480" y="5449824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189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63640" y="5449824"/>
            <a:ext cx="5212080" cy="438912"/>
          </a:xfrm>
          <a:prstGeom prst="rect">
            <a:avLst/>
          </a:prstGeom>
          <a:solidFill>
            <a:srgbClr val="EEF2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73368" y="5449824"/>
            <a:ext cx="510235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微软雅黑"/>
                <a:ea typeface="微软雅黑"/>
              </a:rPr>
              <a:t>功能点仅已落档三项可加总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309360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口径：侧栏可点入口计菜单；独立页含未挂侧栏的下钻页；弹窗 / Tab / 空壳不计页。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57200" y="6656832"/>
            <a:ext cx="8412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厦大马来分校项目  ·  产品设计工作量  ·  2026-09-01 代码复核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2  / 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1F3A"/>
                </a:solidFill>
                <a:latin typeface="微软雅黑"/>
                <a:ea typeface="微软雅黑"/>
              </a:rPr>
              <a:t>教务三件套：培养方案 / 开课 / 排课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"/>
            <a:ext cx="100584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94944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来源：本教务原型。47 个菜单，58 张页面；已落档功能点 54 + 68 = 122。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60704"/>
            <a:ext cx="3767328" cy="534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60704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060704"/>
            <a:ext cx="17373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培养方案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060704"/>
            <a:ext cx="1874519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11 页 · 54 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19072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9 个入口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011680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流程图、版本、审批、查询、变更申请 / 审核、执行计划、两类统计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另 2 个编辑子页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401568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方案版本编辑、执行计划编辑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49884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功能点 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791456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版本管理含编辑页 34；变更 9；执行计划 5；审批 / 查询 / 统计 / 流程图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1060704"/>
            <a:ext cx="3767328" cy="534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1060704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060704"/>
            <a:ext cx="17373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开课管理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1060704"/>
            <a:ext cx="1874519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24 页 · 68 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1719072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16 个入口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011680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开课设置 4、专业开课 3、选修开课 3、课程班管理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10896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另 8 页未挂侧栏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3401568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分组工作台、安排样式一、特殊开课 3 页、共同授课与两条变更日志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49884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功能点 68 / 部分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4791456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10 个菜单已出 PRD；选修 3 页、教师替换、排课计划、流程图未出清单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4" y="1060704"/>
            <a:ext cx="3767328" cy="534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3024" y="1060704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1060704"/>
            <a:ext cx="17373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排课管理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1060704"/>
            <a:ext cx="1874519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23 页 · 未落档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1719072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22 个入口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2011680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流程图 1、基础设置 3、排时间 3、排教室 3、课表查询 6、调课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310896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另 1 个详情子页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3401568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排课表时间 / 教室共用的排课详情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449884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功能点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791456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本仓库无排课功能清单，会上只报菜单和页数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56832"/>
            <a:ext cx="8412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厦大马来分校项目  ·  产品设计工作量  ·  2026-09-01 代码复核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3  / 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1F3A"/>
                </a:solidFill>
                <a:latin typeface="微软雅黑"/>
                <a:ea typeface="微软雅黑"/>
              </a:rPr>
              <a:t>基础三件套：基础数据 / 学籍 / 选课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"/>
            <a:ext cx="100584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94944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来源：基础数据复刻现挂菜单。40 个菜单，40 张页面；仅学籍功能点可报 67。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60704"/>
            <a:ext cx="3767328" cy="534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60704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060704"/>
            <a:ext cx="17373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基础数据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060704"/>
            <a:ext cx="1874519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18 页 · 未落档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19072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18 个入口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011680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仪表盘、学校 / 院系 / 代码集、专业版本 / 批次、楼栋教室、课程全周期、讲师、学期校历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6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页面口径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401568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菜单即页面；创建 / 审批向导在页内打开，不另计页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49884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功能点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791456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无同口径功能清单，不上会估算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1060704"/>
            <a:ext cx="3767328" cy="534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1060704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060704"/>
            <a:ext cx="17373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学籍管理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1060704"/>
            <a:ext cx="1874519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9 页 · 67 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1719072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9 个入口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011680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学生基本信息 1；异动类别 / 同意书 / 规则 / 申请双端 / 审批 / 维护 / 查询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10896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页面口径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3401568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转专业、休学、复学、退学是申请页内 Tab，不另计页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49884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功能点 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4791456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PRD 按钮清单；异动统计有页未挂菜单，不计页也不计功能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4" y="1060704"/>
            <a:ext cx="3767328" cy="5340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3024" y="1060704"/>
            <a:ext cx="376732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1060704"/>
            <a:ext cx="173736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选课管理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1060704"/>
            <a:ext cx="1874519" cy="512064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13 页 · 未落档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1719072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侧栏 13 个入口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2011680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学生端 3；配置 3；过程 4；结果 2；流程说明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3108960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较年中变化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3401568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管理端现 9 个入口，年中按 8 个计，合计从 12 增至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4498848"/>
            <a:ext cx="3438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功能点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791456"/>
            <a:ext cx="343814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无同口径功能清单，不上会估算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56832"/>
            <a:ext cx="8412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厦大马来分校项目  ·  产品设计工作量  ·  2026-09-01 代码复核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4  /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1F3A"/>
                </a:solidFill>
                <a:latin typeface="微软雅黑"/>
                <a:ea typeface="微软雅黑"/>
              </a:rPr>
              <a:t>统计口径：只报能对账的数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"/>
            <a:ext cx="100584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94944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会上被问「功能点怎么加出来的」时，按本页回答。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78992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91440" cy="19659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07008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计菜单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27632"/>
            <a:ext cx="32461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侧栏当前可点击的叶子入口。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</a:rPr>
              <a:t>不计分组标题、已注释下线菜单。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078992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078992"/>
            <a:ext cx="91440" cy="19659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207008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计页面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627632"/>
            <a:ext cx="32461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独立原型页，含未挂侧栏的下钻页。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</a:rPr>
              <a:t>不计弹窗、抽屉、页内 Tab、空壳页。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78992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078992"/>
            <a:ext cx="91440" cy="19659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207008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计功能点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1627632"/>
            <a:ext cx="32461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PRD 功能清单 / 功能按钮，一条算一项。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</a:rPr>
              <a:t>未出清单的模块写「—」，不估算。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218688"/>
            <a:ext cx="11338560" cy="3182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46704"/>
            <a:ext cx="10972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汇报时建议这样说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840479"/>
            <a:ext cx="9144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49039"/>
            <a:ext cx="10515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覆盖规模：六个模块 87 个菜单入口、98 张独立原型页。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297679"/>
            <a:ext cx="9144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206239"/>
            <a:ext cx="10515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已文档化功能：培养方案 54 + 开课 68 + 学籍 67，共 189 条。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754879"/>
            <a:ext cx="9144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663439"/>
            <a:ext cx="10515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开课 68 只覆盖 16 个菜单中的 10 个；选修三页、教师替换、排课计划、流程图尚未出清单。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212079"/>
            <a:ext cx="9144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20639"/>
            <a:ext cx="10515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基础数据、选课、排课目前没有同口径功能清单，所以功能点列为空，不凑整数。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669279"/>
            <a:ext cx="9144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577839"/>
            <a:ext cx="105156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选课比 8 月年中稿多 1 个管理端入口（12→13）；其余菜单和页数与当时一致。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656832"/>
            <a:ext cx="8412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厦大马来分校项目  ·  产品设计工作量  ·  2026-09-01 代码复核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5  /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