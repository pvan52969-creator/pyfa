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91640"/>
            <a:ext cx="1280160" cy="54864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09728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C4A35A"/>
                </a:solidFill>
                <a:latin typeface="微软雅黑"/>
                <a:ea typeface="微软雅黑"/>
              </a:rPr>
              <a:t>XMUM  ·  马来项目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2026 年中工作汇报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CBD5E1"/>
                </a:solidFill>
                <a:latin typeface="微软雅黑"/>
                <a:ea typeface="微软雅黑"/>
              </a:rPr>
              <a:t>产品设计进展  ·  六个模块原型 + 考勤已上线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383280"/>
            <a:ext cx="2148840" cy="384048"/>
          </a:xfrm>
          <a:prstGeom prst="roundRect">
            <a:avLst>
              <a:gd name="adj" fmla="val 8000"/>
            </a:avLst>
          </a:prstGeom>
          <a:solidFill>
            <a:srgbClr val="143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21488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基础数据 18 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34056" y="3383280"/>
            <a:ext cx="2148840" cy="384048"/>
          </a:xfrm>
          <a:prstGeom prst="roundRect">
            <a:avLst>
              <a:gd name="adj" fmla="val 8000"/>
            </a:avLst>
          </a:prstGeom>
          <a:solidFill>
            <a:srgbClr val="143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34056" y="3383280"/>
            <a:ext cx="21488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学籍 9 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10912" y="3383280"/>
            <a:ext cx="2148840" cy="384048"/>
          </a:xfrm>
          <a:prstGeom prst="roundRect">
            <a:avLst>
              <a:gd name="adj" fmla="val 8000"/>
            </a:avLst>
          </a:prstGeom>
          <a:solidFill>
            <a:srgbClr val="143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10912" y="3383280"/>
            <a:ext cx="21488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选课 12 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13632"/>
            <a:ext cx="2148840" cy="384048"/>
          </a:xfrm>
          <a:prstGeom prst="roundRect">
            <a:avLst>
              <a:gd name="adj" fmla="val 8000"/>
            </a:avLst>
          </a:prstGeom>
          <a:solidFill>
            <a:srgbClr val="143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913632"/>
            <a:ext cx="21488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培养方案 11 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34056" y="3913632"/>
            <a:ext cx="2011680" cy="384048"/>
          </a:xfrm>
          <a:prstGeom prst="roundRect">
            <a:avLst>
              <a:gd name="adj" fmla="val 8000"/>
            </a:avLst>
          </a:prstGeom>
          <a:solidFill>
            <a:srgbClr val="143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34056" y="3913632"/>
            <a:ext cx="20116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开课 24 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73752" y="3913632"/>
            <a:ext cx="2011680" cy="384048"/>
          </a:xfrm>
          <a:prstGeom prst="roundRect">
            <a:avLst>
              <a:gd name="adj" fmla="val 8000"/>
            </a:avLst>
          </a:prstGeom>
          <a:solidFill>
            <a:srgbClr val="143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73752" y="3913632"/>
            <a:ext cx="20116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排课 23 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13448" y="3913632"/>
            <a:ext cx="2468880" cy="384048"/>
          </a:xfrm>
          <a:prstGeom prst="roundRect">
            <a:avLst>
              <a:gd name="adj" fmla="val 8000"/>
            </a:avLst>
          </a:prstGeom>
          <a:solidFill>
            <a:srgbClr val="143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13448" y="3913632"/>
            <a:ext cx="24688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考勤 4 月已上线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61772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CBD5E1"/>
                </a:solidFill>
                <a:latin typeface="微软雅黑"/>
                <a:ea typeface="微软雅黑"/>
              </a:rPr>
              <a:t>合计 97 张独立原型页  ·  侧栏入口 86 个  ·  考勤不按原型页计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4A3B8"/>
                </a:solidFill>
                <a:latin typeface="微软雅黑"/>
                <a:ea typeface="微软雅黑"/>
              </a:rPr>
              <a:t>来源：基础数据复刻（基础数据 / 学籍 / 选课）+ 本教务原型（培养方案 / 开课 / 排课）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8932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94A3B8"/>
                </a:solidFill>
                <a:latin typeface="微软雅黑"/>
                <a:ea typeface="微软雅黑"/>
              </a:rPr>
              <a:t>2026 年 8 月  ·  开发进度由开发负责人另行汇报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1556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0B1F3A"/>
                </a:solidFill>
                <a:latin typeface="微软雅黑"/>
                <a:ea typeface="微软雅黑"/>
              </a:rPr>
              <a:t>产品设计覆盖：六个模块 + 考勤已上线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76656"/>
            <a:ext cx="1005840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68096"/>
            <a:ext cx="11155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只报菜单入口和独立页实数。弹窗、向导、页内 Tab 不另计页。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70432"/>
            <a:ext cx="278892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43584"/>
            <a:ext cx="2788920" cy="5303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300"/>
              </a:spcAft>
            </a:pPr>
            <a:r>
              <a:rPr sz="2800" b="1">
                <a:solidFill>
                  <a:srgbClr val="0B1F3A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773936"/>
            <a:ext cx="2569464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E293B"/>
                </a:solidFill>
                <a:latin typeface="微软雅黑"/>
                <a:ea typeface="微软雅黑"/>
              </a:rPr>
              <a:t>设计中的模块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2084831"/>
            <a:ext cx="2569464" cy="7132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</a:rPr>
              <a:t>基础数据 · 学籍 · 选课
培养方案 · 开课 · 排课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9272" y="1170432"/>
            <a:ext cx="278892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9272" y="1243584"/>
            <a:ext cx="2788920" cy="5303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300"/>
              </a:spcAft>
            </a:pPr>
            <a:r>
              <a:rPr sz="2800" b="1">
                <a:solidFill>
                  <a:srgbClr val="0B1F3A"/>
                </a:solidFill>
                <a:latin typeface="微软雅黑"/>
                <a:ea typeface="微软雅黑"/>
              </a:rPr>
              <a:t>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773936"/>
            <a:ext cx="2569464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E293B"/>
                </a:solidFill>
                <a:latin typeface="微软雅黑"/>
                <a:ea typeface="微软雅黑"/>
              </a:rPr>
              <a:t>侧栏可进入口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084831"/>
            <a:ext cx="2569464" cy="7132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</a:rPr>
              <a:t>基础三件套 39  ·  教务三件套 47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7064" y="1170432"/>
            <a:ext cx="278892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1243584"/>
            <a:ext cx="2788920" cy="5303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300"/>
              </a:spcAft>
            </a:pPr>
            <a:r>
              <a:rPr sz="2800" b="1">
                <a:solidFill>
                  <a:srgbClr val="0B1F3A"/>
                </a:solidFill>
                <a:latin typeface="微软雅黑"/>
                <a:ea typeface="微软雅黑"/>
              </a:rPr>
              <a:t>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1773936"/>
            <a:ext cx="2569464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E293B"/>
                </a:solidFill>
                <a:latin typeface="微软雅黑"/>
                <a:ea typeface="微软雅黑"/>
              </a:rPr>
              <a:t>独立原型页面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2084831"/>
            <a:ext cx="2569464" cy="7132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</a:rPr>
              <a:t>基础三件套 39  ·  教务三件套 58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34856" y="1170432"/>
            <a:ext cx="278892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34856" y="1243584"/>
            <a:ext cx="2788920" cy="5303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300"/>
              </a:spcAft>
            </a:pPr>
            <a:r>
              <a:rPr sz="2800" b="1">
                <a:solidFill>
                  <a:srgbClr val="0B1F3A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1773936"/>
            <a:ext cx="2569464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E293B"/>
                </a:solidFill>
                <a:latin typeface="微软雅黑"/>
                <a:ea typeface="微软雅黑"/>
              </a:rPr>
              <a:t>已上线系统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4584" y="2084831"/>
            <a:ext cx="2569464" cy="7132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</a:rPr>
              <a:t>考勤，4 月正式使用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127248"/>
            <a:ext cx="182880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127248"/>
            <a:ext cx="1828800" cy="6400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" y="3255264"/>
            <a:ext cx="1682496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基础数据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" y="3584448"/>
            <a:ext cx="168249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18 入口 / 18 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" y="3950208"/>
            <a:ext cx="1682496" cy="8686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</a:rPr>
              <a:t>学校 · 专业 · 课程 · 讲师 · 校历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50008" y="3127248"/>
            <a:ext cx="182880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50008" y="3127248"/>
            <a:ext cx="1828800" cy="6400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23160" y="3255264"/>
            <a:ext cx="1682496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学籍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3584448"/>
            <a:ext cx="168249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9 入口 / 9 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3950208"/>
            <a:ext cx="1682496" cy="8686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</a:rPr>
              <a:t>档案 + 异动申请到查询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88536" y="3127248"/>
            <a:ext cx="182880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88536" y="3127248"/>
            <a:ext cx="1828800" cy="6400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1688" y="3255264"/>
            <a:ext cx="1682496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选课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61688" y="3584448"/>
            <a:ext cx="168249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12 入口 / 12 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61688" y="3950208"/>
            <a:ext cx="1682496" cy="8686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</a:rPr>
              <a:t>学生端 3  ·  管理端 8  ·  说明 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27064" y="3127248"/>
            <a:ext cx="182880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27064" y="3127248"/>
            <a:ext cx="1828800" cy="6400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0216" y="3255264"/>
            <a:ext cx="1682496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培养方案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0216" y="3584448"/>
            <a:ext cx="168249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9 入口 / 11 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0216" y="3950208"/>
            <a:ext cx="1682496" cy="8686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</a:rPr>
              <a:t>版本全周期 + 2 个编辑子页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65592" y="3127248"/>
            <a:ext cx="182880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65592" y="3127248"/>
            <a:ext cx="1828800" cy="6400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38744" y="3255264"/>
            <a:ext cx="1682496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开课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38744" y="3584448"/>
            <a:ext cx="168249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16 入口 / 24 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38744" y="3950208"/>
            <a:ext cx="1682496" cy="8686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</a:rPr>
              <a:t>计划 / 安排 / 名单已闭环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104120" y="3127248"/>
            <a:ext cx="182880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104120" y="3127248"/>
            <a:ext cx="1828800" cy="6400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177272" y="3255264"/>
            <a:ext cx="1682496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排课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77272" y="3584448"/>
            <a:ext cx="168249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22 入口 / 23 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77272" y="3950208"/>
            <a:ext cx="1682496" cy="8686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</a:rPr>
              <a:t>时间教室双轨 + 调课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1480" y="5138928"/>
            <a:ext cx="11338560" cy="128016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5230368"/>
            <a:ext cx="10972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1F3A"/>
                </a:solidFill>
                <a:latin typeface="微软雅黑"/>
                <a:ea typeface="微软雅黑"/>
              </a:rPr>
              <a:t>链路：基础数据 → 学籍 → 培养方案 → 开课 → 排课 → 选课 → 考勤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基础数据 / 学籍 / 选课：基础数据复刻现挂菜单。培养方案 / 开课 / 排课：本原型 index.html 现存独立页。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已下线页、空壳页不计入。开发进度由开发负责人汇报，产品侧不报完成百分比。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6656832"/>
            <a:ext cx="7315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厦大马来分校项目  ·  2026 年中汇报  ·  产品设计进展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41280" y="6656832"/>
            <a:ext cx="14630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2  / 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1556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0B1F3A"/>
                </a:solidFill>
                <a:latin typeface="微软雅黑"/>
                <a:ea typeface="微软雅黑"/>
              </a:rPr>
              <a:t>教务三件套：培养方案 / 开课 / 排课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76656"/>
            <a:ext cx="1005840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68096"/>
            <a:ext cx="11155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来源：本教务原型。培养方案 11 页，开课 24 页，排课 23 页。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70432"/>
            <a:ext cx="3767328" cy="5230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70432"/>
            <a:ext cx="3767328" cy="5120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170432"/>
            <a:ext cx="219456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培养方案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170432"/>
            <a:ext cx="1508760" cy="512064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300"/>
              </a:spcAft>
            </a:pPr>
            <a:r>
              <a:rPr sz="1400" b="1">
                <a:solidFill>
                  <a:srgbClr val="C4A35A"/>
                </a:solidFill>
                <a:latin typeface="微软雅黑"/>
                <a:ea typeface="微软雅黑"/>
              </a:rPr>
              <a:t>11 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865376"/>
            <a:ext cx="34381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侧栏 9 个入口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157984"/>
            <a:ext cx="3438144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流程图、版本、审批、查询、变更申请 / 审核、执行计划、两类统计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3218688"/>
            <a:ext cx="34381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另 2 个编辑子页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3511296"/>
            <a:ext cx="3438144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方案版本编辑、执行计划编辑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4572000"/>
            <a:ext cx="34381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当前设计状态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4864608"/>
            <a:ext cx="3438144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版本全周期 + 执行计划成套，开课从执行计划取数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9392" y="1170432"/>
            <a:ext cx="3767328" cy="5230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79392" y="1170432"/>
            <a:ext cx="3767328" cy="5120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5696" y="1170432"/>
            <a:ext cx="219456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开课管理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1170432"/>
            <a:ext cx="1508760" cy="512064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300"/>
              </a:spcAft>
            </a:pPr>
            <a:r>
              <a:rPr sz="1400" b="1">
                <a:solidFill>
                  <a:srgbClr val="C4A35A"/>
                </a:solidFill>
                <a:latin typeface="微软雅黑"/>
                <a:ea typeface="微软雅黑"/>
              </a:rPr>
              <a:t>24 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3984" y="1865376"/>
            <a:ext cx="34381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侧栏 16 个入口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3984" y="2157984"/>
            <a:ext cx="3438144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开课设置 4、专业开课 3、选修开课 3、课程班管理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218688"/>
            <a:ext cx="34381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另 8 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3984" y="3511296"/>
            <a:ext cx="3438144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分组、安排样式一、特殊开课 3 页、共同授课与变更日志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3984" y="4572000"/>
            <a:ext cx="34381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当前设计状态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984" y="4864608"/>
            <a:ext cx="3438144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计划 → 安排 → 名单已闭环；特殊开课从专业开课入口添加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93024" y="1170432"/>
            <a:ext cx="3767328" cy="5230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93024" y="1170432"/>
            <a:ext cx="3767328" cy="5120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9328" y="1170432"/>
            <a:ext cx="219456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排课管理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96144" y="1170432"/>
            <a:ext cx="1508760" cy="512064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300"/>
              </a:spcAft>
            </a:pPr>
            <a:r>
              <a:rPr sz="1400" b="1">
                <a:solidFill>
                  <a:srgbClr val="C4A35A"/>
                </a:solidFill>
                <a:latin typeface="微软雅黑"/>
                <a:ea typeface="微软雅黑"/>
              </a:rPr>
              <a:t>23 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1865376"/>
            <a:ext cx="34381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侧栏 22 个入口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6" y="2157984"/>
            <a:ext cx="3438144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设置 4、排时间 3、排教室 3、课表查询 6、调课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7616" y="3218688"/>
            <a:ext cx="34381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另 1 个详情子页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7616" y="3511296"/>
            <a:ext cx="3438144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排课表时间 / 教室共用的排课详情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7616" y="4572000"/>
            <a:ext cx="34381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当前设计状态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7616" y="4864608"/>
            <a:ext cx="3438144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时间与教室双轨；多维课表查询；调课申请到批量调课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656832"/>
            <a:ext cx="7315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厦大马来分校项目  ·  2026 年中汇报  ·  产品设计进展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656832"/>
            <a:ext cx="14630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3  / 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1556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0B1F3A"/>
                </a:solidFill>
                <a:latin typeface="微软雅黑"/>
                <a:ea typeface="微软雅黑"/>
              </a:rPr>
              <a:t>基础三件套：基础数据 / 学籍 / 选课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76656"/>
            <a:ext cx="1005840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68096"/>
            <a:ext cx="11155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来源：基础数据复刻现挂菜单。基础数据 18 页，学籍 9 页，选课 12 页。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70432"/>
            <a:ext cx="3767328" cy="5230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70432"/>
            <a:ext cx="3767328" cy="5120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170432"/>
            <a:ext cx="219456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基础数据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170432"/>
            <a:ext cx="1508760" cy="512064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300"/>
              </a:spcAft>
            </a:pPr>
            <a:r>
              <a:rPr sz="1400" b="1">
                <a:solidFill>
                  <a:srgbClr val="C4A35A"/>
                </a:solidFill>
                <a:latin typeface="微软雅黑"/>
                <a:ea typeface="微软雅黑"/>
              </a:rPr>
              <a:t>18 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865376"/>
            <a:ext cx="34381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侧栏 18 个入口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157984"/>
            <a:ext cx="3438144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仪表盘、学校 / 院系 / 代码集、专业版本 / 批次、楼栋教室、课程全周期、讲师、学期校历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3218688"/>
            <a:ext cx="34381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口径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3511296"/>
            <a:ext cx="3438144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菜单即页面；创建 / 审批向导在页内打开，不另计页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4572000"/>
            <a:ext cx="34381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当前设计状态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4864608"/>
            <a:ext cx="3438144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院校基础配置齐；课程申请、审批、变更已成套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9392" y="1170432"/>
            <a:ext cx="3767328" cy="5230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79392" y="1170432"/>
            <a:ext cx="3767328" cy="5120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5696" y="1170432"/>
            <a:ext cx="219456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学籍管理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1170432"/>
            <a:ext cx="1508760" cy="512064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300"/>
              </a:spcAft>
            </a:pPr>
            <a:r>
              <a:rPr sz="1400" b="1">
                <a:solidFill>
                  <a:srgbClr val="C4A35A"/>
                </a:solidFill>
                <a:latin typeface="微软雅黑"/>
                <a:ea typeface="微软雅黑"/>
              </a:rPr>
              <a:t>9 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3984" y="1865376"/>
            <a:ext cx="34381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侧栏 9 个入口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3984" y="2157984"/>
            <a:ext cx="3438144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学生基本信息 1；异动类别 / 同意书 / 规则 / 申请双端 / 审批 / 维护 / 查询 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218688"/>
            <a:ext cx="34381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口径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3984" y="3511296"/>
            <a:ext cx="3438144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转专业、休学、复学、退学是申请页内 Tab，不另计页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3984" y="4572000"/>
            <a:ext cx="34381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当前设计状态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984" y="4864608"/>
            <a:ext cx="3438144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档案 + 异动主流程已挂出；异动统计有页面未挂菜单，不计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93024" y="1170432"/>
            <a:ext cx="3767328" cy="5230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93024" y="1170432"/>
            <a:ext cx="3767328" cy="5120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9328" y="1170432"/>
            <a:ext cx="219456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选课管理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96144" y="1170432"/>
            <a:ext cx="1508760" cy="512064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300"/>
              </a:spcAft>
            </a:pPr>
            <a:r>
              <a:rPr sz="1400" b="1">
                <a:solidFill>
                  <a:srgbClr val="C4A35A"/>
                </a:solidFill>
                <a:latin typeface="微软雅黑"/>
                <a:ea typeface="微软雅黑"/>
              </a:rPr>
              <a:t>12 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1865376"/>
            <a:ext cx="34381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侧栏 12 个入口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6" y="2157984"/>
            <a:ext cx="3438144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学生端 3（在线选课 / 历史 / 加退课）；管理端 8（批次规则、监控审批、缴费补注册、结果日志）；流程说明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7616" y="3218688"/>
            <a:ext cx="34381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口径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7616" y="3511296"/>
            <a:ext cx="3438144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流程说明菜单标注正式上线去掉，按现存页计入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7616" y="4572000"/>
            <a:ext cx="34381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当前设计状态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7616" y="4864608"/>
            <a:ext cx="3438144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批次轮次、学生选课、监控审批、结果日志已齐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656832"/>
            <a:ext cx="7315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厦大马来分校项目  ·  2026 年中汇报  ·  产品设计进展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656832"/>
            <a:ext cx="14630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4  / 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1556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0B1F3A"/>
                </a:solidFill>
                <a:latin typeface="微软雅黑"/>
                <a:ea typeface="微软雅黑"/>
              </a:rPr>
              <a:t>考勤：已上线，上半年以运维和接需求为主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76656"/>
            <a:ext cx="1005840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68096"/>
            <a:ext cx="11155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只写已发生的事实。缺陷条数、使用量由开发 / 运维口径另报。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61872"/>
            <a:ext cx="217627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41732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C4A35A"/>
                </a:solidFill>
                <a:latin typeface="微软雅黑"/>
                <a:ea typeface="微软雅黑"/>
              </a:rPr>
              <a:t>年初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" y="1874519"/>
            <a:ext cx="192024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B1F3A"/>
                </a:solidFill>
                <a:latin typeface="微软雅黑"/>
                <a:ea typeface="微软雅黑"/>
              </a:rPr>
              <a:t>完成系统设计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5768" y="1261872"/>
            <a:ext cx="217627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3784" y="141732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C4A35A"/>
                </a:solidFill>
                <a:latin typeface="微软雅黑"/>
                <a:ea typeface="微软雅黑"/>
              </a:rPr>
              <a:t>4 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3784" y="1874519"/>
            <a:ext cx="192024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B1F3A"/>
                </a:solidFill>
                <a:latin typeface="微软雅黑"/>
                <a:ea typeface="微软雅黑"/>
              </a:rPr>
              <a:t>正式上线使用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0056" y="1261872"/>
            <a:ext cx="217627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48072" y="141732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C4A35A"/>
                </a:solidFill>
                <a:latin typeface="微软雅黑"/>
                <a:ea typeface="微软雅黑"/>
              </a:rPr>
              <a:t>数据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8072" y="1874519"/>
            <a:ext cx="192024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B1F3A"/>
                </a:solidFill>
                <a:latin typeface="微软雅黑"/>
                <a:ea typeface="微软雅黑"/>
              </a:rPr>
              <a:t>对接学校老教务系统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1261872"/>
            <a:ext cx="217627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141732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C4A35A"/>
                </a:solidFill>
                <a:latin typeface="微软雅黑"/>
                <a:ea typeface="微软雅黑"/>
              </a:rPr>
              <a:t>4 月学期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1874519"/>
            <a:ext cx="192024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B1F3A"/>
                </a:solidFill>
                <a:latin typeface="微软雅黑"/>
                <a:ea typeface="微软雅黑"/>
              </a:rPr>
              <a:t>持续修缺陷、接新需求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28632" y="1261872"/>
            <a:ext cx="217627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56648" y="141732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C4A35A"/>
                </a:solidFill>
                <a:latin typeface="微软雅黑"/>
                <a:ea typeface="微软雅黑"/>
              </a:rPr>
              <a:t>过程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56648" y="1874519"/>
            <a:ext cx="192024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B1F3A"/>
                </a:solidFill>
                <a:latin typeface="微软雅黑"/>
                <a:ea typeface="微软雅黑"/>
              </a:rPr>
              <a:t>上线后问题较多，边用边改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429000"/>
            <a:ext cx="1133856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584448"/>
            <a:ext cx="109728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B1F3A"/>
                </a:solidFill>
                <a:latin typeface="微软雅黑"/>
                <a:ea typeface="微软雅黑"/>
              </a:rPr>
              <a:t>和教务设计的关系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096512"/>
            <a:ext cx="91440" cy="914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02336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E293B"/>
                </a:solidFill>
                <a:latin typeface="微软雅黑"/>
                <a:ea typeface="微软雅黑"/>
              </a:rPr>
              <a:t>考勤与教务并行：考勤已先上线，其余六个模块仍在产品设计与确认阶段。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572000"/>
            <a:ext cx="91440" cy="914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498848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E293B"/>
                </a:solidFill>
                <a:latin typeface="微软雅黑"/>
                <a:ea typeface="微软雅黑"/>
              </a:rPr>
              <a:t>上半年产品精力两边并行——教务与基础模块出原型，考勤跟现场问题和新增需求。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5047488"/>
            <a:ext cx="91440" cy="914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974336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E293B"/>
                </a:solidFill>
                <a:latin typeface="微软雅黑"/>
                <a:ea typeface="微软雅黑"/>
              </a:rPr>
              <a:t>下半年继续收口六个模块的设计确认；考勤继续消化运行中的缺陷与新需求。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522976"/>
            <a:ext cx="91440" cy="914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449824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E293B"/>
                </a:solidFill>
                <a:latin typeface="微软雅黑"/>
                <a:ea typeface="微软雅黑"/>
              </a:rPr>
              <a:t>开发进度、排期与缺陷量化，由开发负责人补充。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656832"/>
            <a:ext cx="7315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厦大马来分校项目  ·  2026 年中汇报  ·  产品设计进展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6656832"/>
            <a:ext cx="14630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5  / 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